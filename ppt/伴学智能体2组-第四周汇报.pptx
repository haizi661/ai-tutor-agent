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3"/>
    <p:sldId id="265" r:id="rId4"/>
    <p:sldId id="279" r:id="rId5"/>
    <p:sldId id="288" r:id="rId6"/>
    <p:sldId id="317" r:id="rId7"/>
    <p:sldId id="309" r:id="rId8"/>
    <p:sldId id="328" r:id="rId9"/>
    <p:sldId id="329" r:id="rId10"/>
    <p:sldId id="327" r:id="rId11"/>
    <p:sldId id="330" r:id="rId12"/>
    <p:sldId id="312" r:id="rId13"/>
    <p:sldId id="331" r:id="rId14"/>
    <p:sldId id="283" r:id="rId15"/>
    <p:sldId id="304" r:id="rId16"/>
    <p:sldId id="284" r:id="rId17"/>
    <p:sldId id="30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52" y="1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17323-BFFE-4F93-93AB-01DE5301D8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70EE9-2E23-48AA-80CC-5513CF86D0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1041400" y="5633745"/>
            <a:ext cx="71755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3F82C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1041400" y="3086102"/>
            <a:ext cx="7175501" cy="223778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3F82C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331201" y="3086102"/>
            <a:ext cx="2565401" cy="24536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331201" y="3382371"/>
            <a:ext cx="2565401" cy="24536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041400" y="5511167"/>
            <a:ext cx="7175501" cy="0"/>
          </a:xfrm>
          <a:prstGeom prst="line">
            <a:avLst/>
          </a:prstGeom>
          <a:ln>
            <a:solidFill>
              <a:srgbClr val="D1E1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/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/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/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/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/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/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/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/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/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/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/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/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/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/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/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/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3A3717A-5040-40EE-A337-D792C9EC5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D554A02-3A37-4901-AB9C-5E7477892CF3}" type="slidenum">
              <a:rPr lang="zh-CN" altLang="en-US" smtClean="0"/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tags" Target="../tags/tag4.xml"/><Relationship Id="rId2" Type="http://schemas.openxmlformats.org/officeDocument/2006/relationships/image" Target="../media/image9.pn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tags" Target="../tags/tag6.xml"/><Relationship Id="rId2" Type="http://schemas.openxmlformats.org/officeDocument/2006/relationships/image" Target="../media/image11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tags" Target="../tags/tag8.xml"/><Relationship Id="rId2" Type="http://schemas.openxmlformats.org/officeDocument/2006/relationships/image" Target="../media/image13.png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1" imgW="0" imgH="0" progId="TCLayout.ActiveDocument.1">
                  <p:embed/>
                </p:oleObj>
              </mc:Choice>
              <mc:Fallback>
                <p:oleObj name="think-cell Slide" r:id="rId1" imgW="0" imgH="0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90204" pitchFamily="34" charset="0"/>
              <a:ea typeface="微软雅黑" panose="020B0503020204020204" pitchFamily="34" charset="-122"/>
              <a:cs typeface="+mj-cs"/>
              <a:sym typeface="Arial" panose="020B060402020209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977898" y="3204553"/>
            <a:ext cx="7175501" cy="22377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zh-CN" altLang="en-US" sz="4800" b="1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  <a:t>“伴学智能体”设计</a:t>
            </a:r>
            <a:br>
              <a:rPr lang="en-US" altLang="zh-CN" sz="4800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</a:br>
            <a:br>
              <a:rPr lang="en-US" altLang="zh-CN" sz="4400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</a:br>
            <a:r>
              <a:rPr lang="en-US" altLang="zh-CN" sz="4400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  <a:t>                           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第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四周汇报</a:t>
            </a:r>
            <a:endParaRPr lang="zh-CN" altLang="en-US" sz="4400" b="1" dirty="0">
              <a:solidFill>
                <a:schemeClr val="tx1">
                  <a:lumMod val="95000"/>
                  <a:lumOff val="5000"/>
                </a:schemeClr>
              </a:solidFill>
              <a:latin typeface="等线 Light" panose="02010600030101010101" pitchFamily="2" charset="-122"/>
              <a:ea typeface="等线 Light" panose="02010600030101010101" pitchFamily="2" charset="-122"/>
              <a:cs typeface="Roboto" panose="02000000000000000000" pitchFamily="2" charset="0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155698" y="5700650"/>
            <a:ext cx="7175501" cy="558799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PPT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制作、汇报：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唐嘉阳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副标题 8"/>
          <p:cNvSpPr txBox="1"/>
          <p:nvPr/>
        </p:nvSpPr>
        <p:spPr>
          <a:xfrm>
            <a:off x="1155698" y="6056249"/>
            <a:ext cx="7175501" cy="558799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600" kern="1200">
                <a:solidFill>
                  <a:srgbClr val="3F82C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小组成员：朱海、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潘冠吾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、唐嘉阳、杨晓洁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99776" y="1577044"/>
            <a:ext cx="630752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主要分为以下</a:t>
            </a:r>
            <a:r>
              <a:rPr lang="zh-CN" altLang="en-US" sz="3200" dirty="0"/>
              <a:t>三个部分：</a:t>
            </a:r>
            <a:endParaRPr lang="en-US" altLang="zh-CN" sz="3200" dirty="0"/>
          </a:p>
          <a:p>
            <a:endParaRPr lang="en-US" altLang="zh-CN" sz="2800" dirty="0"/>
          </a:p>
          <a:p>
            <a:r>
              <a:rPr lang="zh-CN" altLang="en-US" sz="2400" dirty="0"/>
              <a:t>一、本周</a:t>
            </a:r>
            <a:r>
              <a:rPr lang="zh-CN" altLang="en-US" sz="2400" dirty="0"/>
              <a:t>已完成工作</a:t>
            </a:r>
            <a:endParaRPr lang="en-US" altLang="zh-CN" sz="2400" dirty="0"/>
          </a:p>
          <a:p>
            <a:endParaRPr lang="en-US" altLang="zh-CN" sz="2400" dirty="0">
              <a:latin typeface="+mj-lt"/>
            </a:endParaRPr>
          </a:p>
          <a:p>
            <a:r>
              <a:rPr lang="zh-CN" altLang="en-US" sz="2400" dirty="0"/>
              <a:t>二、</a:t>
            </a:r>
            <a:r>
              <a:rPr lang="zh-CN" altLang="en-US" sz="2400" dirty="0">
                <a:sym typeface="+mn-ea"/>
              </a:rPr>
              <a:t>计划</a:t>
            </a:r>
            <a:r>
              <a:rPr lang="zh-CN" altLang="en-US" sz="2400" dirty="0">
                <a:sym typeface="+mn-ea"/>
              </a:rPr>
              <a:t>偏差分析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三、下周计划展望</a:t>
            </a:r>
            <a:endParaRPr lang="zh-CN" altLang="en-US" sz="2400" dirty="0"/>
          </a:p>
          <a:p>
            <a:endParaRPr lang="en-US" altLang="zh-CN" sz="2400" dirty="0"/>
          </a:p>
          <a:p>
            <a:r>
              <a:rPr lang="zh-CN" altLang="en-US" sz="2400" dirty="0"/>
              <a:t> </a:t>
            </a:r>
            <a:endParaRPr lang="zh-CN" altLang="en-US" sz="2800" dirty="0"/>
          </a:p>
        </p:txBody>
      </p:sp>
      <p:pic>
        <p:nvPicPr>
          <p:cNvPr id="5122" name="Picture 2" descr="有哪些好看的PPT目录？ - 知乎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47"/>
          <a:stretch>
            <a:fillRect/>
          </a:stretch>
        </p:blipFill>
        <p:spPr bwMode="auto">
          <a:xfrm>
            <a:off x="-1" y="1"/>
            <a:ext cx="5099775" cy="633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484988" y="2129518"/>
            <a:ext cx="5494162" cy="89535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ym typeface="+mn-ea"/>
              </a:rPr>
              <a:t>本周已完成工作</a:t>
            </a:r>
            <a:endParaRPr lang="en-US" altLang="zh-CN" sz="4400" dirty="0"/>
          </a:p>
        </p:txBody>
      </p:sp>
      <p:sp>
        <p:nvSpPr>
          <p:cNvPr id="9" name="文本框 8"/>
          <p:cNvSpPr txBox="1"/>
          <p:nvPr/>
        </p:nvSpPr>
        <p:spPr>
          <a:xfrm>
            <a:off x="4025988" y="2009247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itchFamily="2" charset="-122"/>
                <a:cs typeface="Arial" panose="020B0604020202090204" pitchFamily="34" charset="0"/>
              </a:rPr>
              <a:t>/01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b="1" dirty="0" err="1">
                <a:sym typeface="+mn-ea"/>
              </a:rPr>
              <a:t>本周工作完成</a:t>
            </a:r>
            <a:r>
              <a:rPr lang="zh-CN" altLang="en-US" sz="3200" b="1" dirty="0" err="1">
                <a:sym typeface="+mn-ea"/>
              </a:rPr>
              <a:t>情况</a:t>
            </a:r>
            <a:endParaRPr lang="zh-CN" altLang="en-US" sz="3200" b="1" dirty="0" err="1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63220" y="1423035"/>
            <a:ext cx="11569700" cy="423926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b="1" dirty="0" err="1">
                <a:sym typeface="+mn-ea"/>
              </a:rPr>
              <a:t>智能体总体框架</a:t>
            </a:r>
            <a:r>
              <a:rPr lang="zh-CN" altLang="en-US" sz="3200" b="1" dirty="0" err="1">
                <a:sym typeface="+mn-ea"/>
              </a:rPr>
              <a:t>搭建</a:t>
            </a:r>
            <a:endParaRPr lang="zh-CN" altLang="en-US" sz="3200" b="1" dirty="0" err="1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1965" y="1252271"/>
            <a:ext cx="10702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63220" y="1012190"/>
            <a:ext cx="8870315" cy="52158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34170" y="1692275"/>
            <a:ext cx="27451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项目代码结构</a:t>
            </a:r>
            <a:endParaRPr lang="zh-CN" altLang="en-US" sz="3200"/>
          </a:p>
        </p:txBody>
      </p:sp>
      <p:sp>
        <p:nvSpPr>
          <p:cNvPr id="7" name="文本框 6"/>
          <p:cNvSpPr txBox="1"/>
          <p:nvPr/>
        </p:nvSpPr>
        <p:spPr>
          <a:xfrm>
            <a:off x="9233535" y="2507615"/>
            <a:ext cx="27451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方便协作和后续迭代，这里给出当前项目的代码结构全景。目录划分围绕“核心契约、节点能力、流程编排、外部依赖、会话应用、接口交付”展开，保证在定位问题时能快速判断应该改哪一层、避免跨层耦合。</a:t>
            </a:r>
            <a:endParaRPr lang="zh-CN" altLang="en-US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智能体</a:t>
            </a:r>
            <a:r>
              <a:rPr lang="zh-CN" altLang="en-US" sz="3200" dirty="0"/>
              <a:t>主界面</a:t>
            </a:r>
            <a:endParaRPr lang="zh-CN" altLang="en-US" sz="32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92850" y="1617345"/>
            <a:ext cx="5548630" cy="37141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3220" y="1635760"/>
            <a:ext cx="5452745" cy="369633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学前测评与用户</a:t>
            </a:r>
            <a:r>
              <a:rPr lang="zh-CN" altLang="en-US" sz="3200" dirty="0"/>
              <a:t>画像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363220" y="1513205"/>
            <a:ext cx="106927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学前测评是学习流程中的前置环节，目标是在正式讲解前先建立用户能力基线，再输出画像结果，避免教学难度失配。它不是单点页面功能，而是由后端状态机、节点编排、SSE 事件和前端动态表单共同完成的一段可暂停、可恢复流程。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363220" y="3213100"/>
            <a:ext cx="1069276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当学习主题确认后，流程进入 assessment_generator。系统会生成 20 道测评题（10 道自评 + 10 道客观题），并通过 assessment.form_ready推送给前端，同时将状态置为 awaiting_assessment`并暂停图执行。前端在 ui.js 渲染题目，用户提交后调用 submit_assessment；后端在 session.py把答案写入状态并切换到 profiling，再恢复执行。</a:t>
            </a:r>
            <a:endParaRPr lang="zh-CN" altLang="en-US" sz="2400"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学前测评与用户</a:t>
            </a:r>
            <a:r>
              <a:rPr lang="zh-CN" altLang="en-US" sz="3200" dirty="0"/>
              <a:t>画像</a:t>
            </a:r>
            <a:endParaRPr lang="zh-CN" altLang="en-US" sz="320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7640" y="1336675"/>
            <a:ext cx="4766310" cy="2752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13680" y="1336675"/>
            <a:ext cx="6666230" cy="324612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学前测评与用户</a:t>
            </a:r>
            <a:r>
              <a:rPr lang="zh-CN" altLang="en-US" sz="3200" dirty="0"/>
              <a:t>画像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505460" y="1362075"/>
            <a:ext cx="1111567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随后 user_profiler节点执行画像生成：先按规则计算 6 维雷达数据，再让模型基于该结果生成解释性报告。雷达通过profile.radar_data事件推给前端绘图，报告以流式文本展示。完成后状态更新为is_assessed=True、flow_status=normal，流程进入 Tutor 教学闭环。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505460" y="3280410"/>
            <a:ext cx="1111504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会话停在测评阶段时，历史接口会返回 assessment_questions、assessment_answers 和 flow_status，前端可直接重建表单并回填答案；若题目已生成，后端会重发事件而不是重复出题。对应行为在 test_api_smoke.py 和 test_assessment.py 中已有覆盖。</a:t>
            </a:r>
            <a:endParaRPr lang="zh-CN" altLang="en-US" sz="2400"/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学前测评与用户</a:t>
            </a:r>
            <a:r>
              <a:rPr lang="zh-CN" altLang="en-US" sz="3200" dirty="0"/>
              <a:t>画像</a:t>
            </a:r>
            <a:endParaRPr lang="zh-CN" altLang="en-US" sz="3200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63220" y="1011555"/>
            <a:ext cx="4133215" cy="52622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645660" y="1011555"/>
            <a:ext cx="7125335" cy="506603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学前测评</a:t>
            </a:r>
            <a:r>
              <a:rPr lang="zh-CN" altLang="en-US" sz="3200" dirty="0"/>
              <a:t>与用户</a:t>
            </a:r>
            <a:r>
              <a:rPr lang="zh-CN" altLang="en-US" sz="3200" dirty="0"/>
              <a:t>画像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481965" y="1252271"/>
            <a:ext cx="1070229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r>
              <a:rPr lang="zh-CN" altLang="en-US" sz="2400" b="1" dirty="0"/>
              <a:t>、多重测评维度：包含对知识点掌握程度的自我评价和客观评判，</a:t>
            </a:r>
            <a:r>
              <a:rPr lang="zh-CN" altLang="en-US" sz="2400" dirty="0">
                <a:sym typeface="+mn-ea"/>
              </a:rPr>
              <a:t>引入客观评分器</a:t>
            </a:r>
            <a:r>
              <a:rPr lang="en-US" altLang="zh-CN" sz="2400" dirty="0">
                <a:sym typeface="+mn-ea"/>
              </a:rPr>
              <a:t>assessment_evaluator</a:t>
            </a:r>
            <a:r>
              <a:rPr lang="zh-CN" altLang="en-US" sz="2400" dirty="0">
                <a:sym typeface="+mn-ea"/>
              </a:rPr>
              <a:t>进行标准答案校验，对两种评判方式的差异进行分析增强</a:t>
            </a:r>
            <a:r>
              <a:rPr lang="zh-CN" sz="2400" dirty="0">
                <a:sym typeface="+mn-ea"/>
              </a:rPr>
              <a:t>，</a:t>
            </a:r>
            <a:r>
              <a:rPr lang="zh-CN" altLang="en-US" sz="2400" dirty="0">
                <a:sym typeface="+mn-ea"/>
              </a:rPr>
              <a:t>若自评高但实考低，标记为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盲目自信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，建议从基础概念复习；若自评低但实考高，标记为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缺乏自信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，建议多给予鼓励。</a:t>
            </a:r>
            <a:endParaRPr lang="zh-CN" altLang="en-US" sz="2400" dirty="0">
              <a:sym typeface="+mn-ea"/>
            </a:endParaRPr>
          </a:p>
          <a:p>
            <a:r>
              <a:rPr lang="en-US" altLang="zh-CN" sz="2400" b="1" dirty="0">
                <a:sym typeface="+mn-ea"/>
              </a:rPr>
              <a:t>2</a:t>
            </a:r>
            <a:r>
              <a:rPr lang="zh-CN" altLang="en-US" sz="2400" b="1" dirty="0">
                <a:sym typeface="+mn-ea"/>
              </a:rPr>
              <a:t>、动态更新画像：</a:t>
            </a:r>
            <a:r>
              <a:rPr lang="zh-CN" altLang="en-US" sz="2400" dirty="0">
                <a:sym typeface="+mn-ea"/>
              </a:rPr>
              <a:t>调用</a:t>
            </a:r>
            <a:r>
              <a:rPr lang="en-US" altLang="zh-CN" sz="2400" dirty="0">
                <a:sym typeface="+mn-ea"/>
              </a:rPr>
              <a:t> LLM</a:t>
            </a:r>
            <a:r>
              <a:rPr lang="zh-CN" altLang="en-US" sz="2400" dirty="0">
                <a:sym typeface="+mn-ea"/>
              </a:rPr>
              <a:t>输出</a:t>
            </a:r>
            <a:r>
              <a:rPr lang="en-US" altLang="zh-CN" sz="2400" dirty="0">
                <a:sym typeface="+mn-ea"/>
              </a:rPr>
              <a:t> JSON </a:t>
            </a:r>
            <a:r>
              <a:rPr lang="zh-CN" altLang="en-US" sz="2400" dirty="0">
                <a:sym typeface="+mn-ea"/>
              </a:rPr>
              <a:t>格式的雷达图数据（</a:t>
            </a:r>
            <a:r>
              <a:rPr lang="en-US" altLang="zh-CN" sz="2400" dirty="0">
                <a:sym typeface="+mn-ea"/>
              </a:rPr>
              <a:t>6 </a:t>
            </a:r>
            <a:r>
              <a:rPr lang="zh-CN" altLang="en-US" sz="2400" dirty="0">
                <a:sym typeface="+mn-ea"/>
              </a:rPr>
              <a:t>个维度、自评分、客观分、差异值），并此数据将写入</a:t>
            </a:r>
            <a:r>
              <a:rPr lang="en-US" altLang="zh-CN" sz="2400" dirty="0">
                <a:sym typeface="+mn-ea"/>
              </a:rPr>
              <a:t> SQLite </a:t>
            </a:r>
            <a:r>
              <a:rPr lang="zh-CN" altLang="en-US" sz="2400" dirty="0">
                <a:sym typeface="+mn-ea"/>
              </a:rPr>
              <a:t>长期记忆库。</a:t>
            </a:r>
            <a:r>
              <a:rPr lang="zh-CN" altLang="en-US" sz="2400" dirty="0">
                <a:sym typeface="+mn-ea"/>
              </a:rPr>
              <a:t>基于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学前 </a:t>
            </a:r>
            <a:r>
              <a:rPr lang="en-US" altLang="zh-CN" sz="2400" dirty="0">
                <a:sym typeface="+mn-ea"/>
              </a:rPr>
              <a:t>- </a:t>
            </a:r>
            <a:r>
              <a:rPr lang="zh-CN" altLang="en-US" sz="2400" dirty="0">
                <a:sym typeface="+mn-ea"/>
              </a:rPr>
              <a:t>学后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双重测评机制和对话记忆库，</a:t>
            </a:r>
            <a:r>
              <a:rPr lang="zh-CN" altLang="en-US" sz="2400" dirty="0">
                <a:sym typeface="+mn-ea"/>
              </a:rPr>
              <a:t>实时捕捉用户状态动态变化，实现自适应画像更新。</a:t>
            </a:r>
            <a:endParaRPr lang="zh-CN" altLang="en-US" sz="2400" dirty="0">
              <a:sym typeface="+mn-ea"/>
            </a:endParaRPr>
          </a:p>
          <a:p>
            <a:r>
              <a:rPr lang="en-US" altLang="zh-CN" sz="2400" b="1" dirty="0">
                <a:sym typeface="+mn-ea"/>
              </a:rPr>
              <a:t>3</a:t>
            </a:r>
            <a:r>
              <a:rPr lang="zh-CN" altLang="en-US" sz="2400" b="1" dirty="0">
                <a:sym typeface="+mn-ea"/>
              </a:rPr>
              <a:t>、题目生成：</a:t>
            </a:r>
            <a:r>
              <a:rPr lang="zh-CN" altLang="en-US" sz="2400" dirty="0">
                <a:sym typeface="+mn-ea"/>
              </a:rPr>
              <a:t>生成的</a:t>
            </a:r>
            <a:r>
              <a:rPr lang="en-US" altLang="zh-CN" sz="2400" dirty="0">
                <a:sym typeface="+mn-ea"/>
              </a:rPr>
              <a:t> JSON </a:t>
            </a:r>
            <a:r>
              <a:rPr lang="zh-CN" altLang="en-US" sz="2400" dirty="0">
                <a:sym typeface="+mn-ea"/>
              </a:rPr>
              <a:t>必须包含客观题的标准答案和解析，这是后续精准评分和教学的基石。</a:t>
            </a:r>
            <a:r>
              <a:rPr lang="zh-CN" altLang="en-US" sz="2400" dirty="0">
                <a:sym typeface="+mn-ea"/>
              </a:rPr>
              <a:t>对知识点进行难度分级和</a:t>
            </a:r>
            <a:r>
              <a:rPr lang="zh-CN" altLang="en-US" sz="2400" dirty="0">
                <a:sym typeface="+mn-ea"/>
              </a:rPr>
              <a:t>关联的小知识点归属标记，</a:t>
            </a:r>
            <a:endParaRPr lang="zh-CN" altLang="en-US" sz="2400" dirty="0">
              <a:sym typeface="+mn-ea"/>
            </a:endParaRPr>
          </a:p>
          <a:p>
            <a:endParaRPr lang="zh-CN" altLang="en-US" sz="2400" b="1" dirty="0"/>
          </a:p>
          <a:p>
            <a:endParaRPr lang="zh-CN" altLang="en-US" sz="2400" b="1" dirty="0"/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考题</a:t>
            </a:r>
            <a:r>
              <a:rPr lang="zh-CN" altLang="en-US" sz="3200" dirty="0"/>
              <a:t>定制</a:t>
            </a:r>
            <a:endParaRPr lang="zh-CN" altLang="en-US" sz="3200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50795" y="1099820"/>
            <a:ext cx="7091045" cy="465836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025988" y="2009247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itchFamily="2" charset="-122"/>
                <a:cs typeface="Arial" panose="020B0604020202090204" pitchFamily="34" charset="0"/>
              </a:rPr>
              <a:t>/02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5313158" y="2350447"/>
            <a:ext cx="4442135" cy="895350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ym typeface="+mn-ea"/>
              </a:rPr>
              <a:t>计划偏差分析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甘特图</a:t>
            </a:r>
            <a:r>
              <a:rPr lang="zh-CN" altLang="en-US" sz="3200" dirty="0"/>
              <a:t>计划对比</a:t>
            </a:r>
            <a:endParaRPr lang="zh-CN" altLang="en-US" sz="3200" dirty="0"/>
          </a:p>
        </p:txBody>
      </p:sp>
      <p:pic>
        <p:nvPicPr>
          <p:cNvPr id="5" name="图片 4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46"/>
          <a:stretch>
            <a:fillRect/>
          </a:stretch>
        </p:blipFill>
        <p:spPr>
          <a:xfrm>
            <a:off x="498475" y="943610"/>
            <a:ext cx="9363075" cy="42316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30935" y="5287010"/>
            <a:ext cx="73348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按照计划进行中，详尽计划打好了基础，接下来将进入真正的开发阶段</a:t>
            </a:r>
            <a:endParaRPr lang="zh-CN" altLang="en-US" sz="2400"/>
          </a:p>
        </p:txBody>
      </p:sp>
      <p:sp>
        <p:nvSpPr>
          <p:cNvPr id="6" name="矩形 5"/>
          <p:cNvSpPr/>
          <p:nvPr/>
        </p:nvSpPr>
        <p:spPr>
          <a:xfrm>
            <a:off x="4807585" y="1219835"/>
            <a:ext cx="1303655" cy="31616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687191" y="2117152"/>
            <a:ext cx="7341159" cy="889937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ym typeface="+mn-ea"/>
              </a:rPr>
              <a:t>下周计划</a:t>
            </a:r>
            <a:endParaRPr lang="en-US" altLang="zh-CN" sz="3600" dirty="0"/>
          </a:p>
        </p:txBody>
      </p:sp>
      <p:sp>
        <p:nvSpPr>
          <p:cNvPr id="9" name="文本框 8"/>
          <p:cNvSpPr txBox="1"/>
          <p:nvPr/>
        </p:nvSpPr>
        <p:spPr>
          <a:xfrm>
            <a:off x="3424570" y="2057016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itchFamily="2" charset="-122"/>
                <a:cs typeface="Arial" panose="020B0604020202090204" pitchFamily="34" charset="0"/>
              </a:rPr>
              <a:t>/03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下周计划</a:t>
            </a:r>
            <a:endParaRPr lang="zh-CN" altLang="en-US" sz="320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6385" y="1778000"/>
            <a:ext cx="11905615" cy="338264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ont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1322</Words>
  <Application>WPS 演示</Application>
  <PresentationFormat>宽屏</PresentationFormat>
  <Paragraphs>70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Helvetica Neue</vt:lpstr>
      <vt:lpstr>微软雅黑</vt:lpstr>
      <vt:lpstr>等线 Light</vt:lpstr>
      <vt:lpstr>汉仪中等线KW</vt:lpstr>
      <vt:lpstr>Roboto</vt:lpstr>
      <vt:lpstr>汉仪书宋二KW</vt:lpstr>
      <vt:lpstr>汉仪旗黑</vt:lpstr>
      <vt:lpstr>宋体</vt:lpstr>
      <vt:lpstr>Arial Unicode MS</vt:lpstr>
      <vt:lpstr>Calibri Light</vt:lpstr>
      <vt:lpstr>等线</vt:lpstr>
      <vt:lpstr>苹方-简</vt:lpstr>
      <vt:lpstr>回顾</vt:lpstr>
      <vt:lpstr>TCLayout.ActiveDocument.1</vt:lpstr>
      <vt:lpstr>“伴学智能体”设计                             ——第三周汇报</vt:lpstr>
      <vt:lpstr>PowerPoint 演示文稿</vt:lpstr>
      <vt:lpstr>本周已完成工作</vt:lpstr>
      <vt:lpstr>本周工作完成情况</vt:lpstr>
      <vt:lpstr>LangGraph环境搭建</vt:lpstr>
      <vt:lpstr>详细计划完善</vt:lpstr>
      <vt:lpstr>学前测评与用户画像</vt:lpstr>
      <vt:lpstr>学前测评与用户画像</vt:lpstr>
      <vt:lpstr>学前测评</vt:lpstr>
      <vt:lpstr>学前测评与用户画像</vt:lpstr>
      <vt:lpstr>详细计划完善</vt:lpstr>
      <vt:lpstr>学前测评与用户画像</vt:lpstr>
      <vt:lpstr>计划偏差分析 </vt:lpstr>
      <vt:lpstr>甘特图计划对比</vt:lpstr>
      <vt:lpstr>下周计划</vt:lpstr>
      <vt:lpstr>下周计划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冠吾 潘</dc:creator>
  <cp:lastModifiedBy>2354199唐嘉阳</cp:lastModifiedBy>
  <cp:revision>41</cp:revision>
  <dcterms:created xsi:type="dcterms:W3CDTF">2026-03-24T07:00:08Z</dcterms:created>
  <dcterms:modified xsi:type="dcterms:W3CDTF">2026-03-24T07:00:08Z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44773EFF14C84F6678F0C16950CFDA44_43</vt:lpwstr>
  </property>
  <property fmtid="{D5CDD505-2E9C-101B-9397-08002B2CF9AE}" pid="3" name="KSOProductBuildVer">
    <vt:lpwstr>2052-6.7.1.8828</vt:lpwstr>
  </property>
</Properties>
</file>