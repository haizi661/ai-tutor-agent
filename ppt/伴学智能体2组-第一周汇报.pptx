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4"/>
  </p:notesMasterIdLst>
  <p:sldIdLst>
    <p:sldId id="257" r:id="rId2"/>
    <p:sldId id="265" r:id="rId3"/>
    <p:sldId id="279" r:id="rId4"/>
    <p:sldId id="258" r:id="rId5"/>
    <p:sldId id="287" r:id="rId6"/>
    <p:sldId id="290" r:id="rId7"/>
    <p:sldId id="283" r:id="rId8"/>
    <p:sldId id="288" r:id="rId9"/>
    <p:sldId id="284" r:id="rId10"/>
    <p:sldId id="293" r:id="rId11"/>
    <p:sldId id="294" r:id="rId12"/>
    <p:sldId id="295" r:id="rId13"/>
    <p:sldId id="296" r:id="rId14"/>
    <p:sldId id="297" r:id="rId15"/>
    <p:sldId id="285" r:id="rId16"/>
    <p:sldId id="298" r:id="rId17"/>
    <p:sldId id="299" r:id="rId18"/>
    <p:sldId id="300" r:id="rId19"/>
    <p:sldId id="301" r:id="rId20"/>
    <p:sldId id="303" r:id="rId21"/>
    <p:sldId id="289" r:id="rId22"/>
    <p:sldId id="28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6D9D59-3AA7-421E-A6DF-B86EE2572953}" v="345" dt="2025-04-29T15:09:17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52" y="1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117323-BFFE-4F93-93AB-01DE5301D8A5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70EE9-2E23-48AA-80CC-5513CF86D09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901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453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604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9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495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09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09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428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564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8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3" y="6459787"/>
            <a:ext cx="2618511" cy="365125"/>
          </a:xfrm>
        </p:spPr>
        <p:txBody>
          <a:bodyPr/>
          <a:lstStyle>
            <a:lvl1pPr algn="l">
              <a:defRPr/>
            </a:lvl1pPr>
          </a:lstStyle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7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847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7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846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7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7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7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14780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771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4BD5FF6C-C1A7-4694-B411-7F2D35FA2B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9801" name="副标题 9800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041400" y="5633745"/>
            <a:ext cx="7175501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3F82C4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9801"/>
          <p:cNvSpPr>
            <a:spLocks noGrp="1"/>
          </p:cNvSpPr>
          <p:nvPr userDrawn="1">
            <p:ph type="ctrTitle" hasCustomPrompt="1"/>
          </p:nvPr>
        </p:nvSpPr>
        <p:spPr>
          <a:xfrm>
            <a:off x="1041400" y="3086102"/>
            <a:ext cx="7175501" cy="2237785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rgbClr val="3F82C4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331201" y="3086102"/>
            <a:ext cx="2565401" cy="24536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2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331201" y="3382371"/>
            <a:ext cx="2565401" cy="245363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437F7F4-1FCE-41E3-AD73-422591351B80}"/>
              </a:ext>
            </a:extLst>
          </p:cNvPr>
          <p:cNvCxnSpPr>
            <a:cxnSpLocks/>
          </p:cNvCxnSpPr>
          <p:nvPr userDrawn="1"/>
        </p:nvCxnSpPr>
        <p:spPr>
          <a:xfrm>
            <a:off x="1041400" y="5511167"/>
            <a:ext cx="7175501" cy="0"/>
          </a:xfrm>
          <a:prstGeom prst="line">
            <a:avLst/>
          </a:prstGeom>
          <a:ln>
            <a:solidFill>
              <a:srgbClr val="D1E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49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155F975-E987-8F5D-E669-0DCCE41EF25F}"/>
              </a:ext>
            </a:extLst>
          </p:cNvPr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A52B18C0-A34F-4A20-178C-D4F21B8E00C1}"/>
                </a:ext>
              </a:extLst>
            </p:cNvPr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F641517E-5E2B-4185-E6F4-E7939420583E}"/>
                </a:ext>
              </a:extLst>
            </p:cNvPr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239A28D8-9C4F-26D9-67A6-ED2A80B7E884}"/>
                </a:ext>
              </a:extLst>
            </p:cNvPr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>
            <a:extLst>
              <a:ext uri="{FF2B5EF4-FFF2-40B4-BE49-F238E27FC236}">
                <a16:creationId xmlns:a16="http://schemas.microsoft.com/office/drawing/2014/main" id="{71425E6B-846A-1941-2246-17CF63B5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>
            <a:extLst>
              <a:ext uri="{FF2B5EF4-FFF2-40B4-BE49-F238E27FC236}">
                <a16:creationId xmlns:a16="http://schemas.microsoft.com/office/drawing/2014/main" id="{FBF7020F-688C-343E-B1A4-DECA1C2D6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33917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67D61032-88AB-8436-CC89-DFFFE153F57C}"/>
              </a:ext>
            </a:extLst>
          </p:cNvPr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73440E9F-FDC3-ABAE-C6FB-CDCAFBABBB88}"/>
                </a:ext>
              </a:extLst>
            </p:cNvPr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49032DEB-5E3A-CBBE-F2BD-22864F6B339F}"/>
                </a:ext>
              </a:extLst>
            </p:cNvPr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BB7C31BA-08C2-44C4-E0CE-0A5B9C4A15B6}"/>
                </a:ext>
              </a:extLst>
            </p:cNvPr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>
            <a:extLst>
              <a:ext uri="{FF2B5EF4-FFF2-40B4-BE49-F238E27FC236}">
                <a16:creationId xmlns:a16="http://schemas.microsoft.com/office/drawing/2014/main" id="{DF1B6676-07CE-068F-54F0-54FA124A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>
            <a:extLst>
              <a:ext uri="{FF2B5EF4-FFF2-40B4-BE49-F238E27FC236}">
                <a16:creationId xmlns:a16="http://schemas.microsoft.com/office/drawing/2014/main" id="{349AE804-9243-EDE5-738E-B13AF06B0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7018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56AFE7C-C9A2-9487-8496-972D41757F3A}"/>
              </a:ext>
            </a:extLst>
          </p:cNvPr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9234B0E0-F266-DBC6-8015-3FE2FA3E5237}"/>
                </a:ext>
              </a:extLst>
            </p:cNvPr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E2F7E656-5855-2CF7-DE8F-DF177B4F5BBC}"/>
                </a:ext>
              </a:extLst>
            </p:cNvPr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80ED33D1-E0F8-7B2B-069E-DF7424C29C1C}"/>
                </a:ext>
              </a:extLst>
            </p:cNvPr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>
            <a:extLst>
              <a:ext uri="{FF2B5EF4-FFF2-40B4-BE49-F238E27FC236}">
                <a16:creationId xmlns:a16="http://schemas.microsoft.com/office/drawing/2014/main" id="{E81919DB-7984-3DEB-A52C-276281626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>
            <a:extLst>
              <a:ext uri="{FF2B5EF4-FFF2-40B4-BE49-F238E27FC236}">
                <a16:creationId xmlns:a16="http://schemas.microsoft.com/office/drawing/2014/main" id="{03BA2CD2-3F7D-1FF1-57C9-C1F2D78FF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9093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46F90F21-941A-F525-96B2-0D26F1382756}"/>
              </a:ext>
            </a:extLst>
          </p:cNvPr>
          <p:cNvGrpSpPr/>
          <p:nvPr userDrawn="1"/>
        </p:nvGrpSpPr>
        <p:grpSpPr>
          <a:xfrm flipH="1">
            <a:off x="-1" y="-1"/>
            <a:ext cx="4804229" cy="6860858"/>
            <a:chOff x="2994636" y="-1"/>
            <a:chExt cx="9197364" cy="6860858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D29A299-E539-F422-B4EA-45CFA24951D9}"/>
                </a:ext>
              </a:extLst>
            </p:cNvPr>
            <p:cNvSpPr/>
            <p:nvPr userDrawn="1"/>
          </p:nvSpPr>
          <p:spPr>
            <a:xfrm>
              <a:off x="5080001" y="0"/>
              <a:ext cx="7111999" cy="6858000"/>
            </a:xfrm>
            <a:custGeom>
              <a:avLst/>
              <a:gdLst>
                <a:gd name="connsiteX0" fmla="*/ 2400300 w 7112000"/>
                <a:gd name="connsiteY0" fmla="*/ 0 h 6858000"/>
                <a:gd name="connsiteX1" fmla="*/ 7112000 w 7112000"/>
                <a:gd name="connsiteY1" fmla="*/ 0 h 6858000"/>
                <a:gd name="connsiteX2" fmla="*/ 7112000 w 7112000"/>
                <a:gd name="connsiteY2" fmla="*/ 2648857 h 6858000"/>
                <a:gd name="connsiteX3" fmla="*/ 5638800 w 7112000"/>
                <a:gd name="connsiteY3" fmla="*/ 6858000 h 6858000"/>
                <a:gd name="connsiteX4" fmla="*/ 0 w 711200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12000" h="6858000">
                  <a:moveTo>
                    <a:pt x="2400300" y="0"/>
                  </a:moveTo>
                  <a:lnTo>
                    <a:pt x="7112000" y="0"/>
                  </a:lnTo>
                  <a:lnTo>
                    <a:pt x="7112000" y="2648857"/>
                  </a:lnTo>
                  <a:lnTo>
                    <a:pt x="5638800" y="6858000"/>
                  </a:lnTo>
                  <a:lnTo>
                    <a:pt x="0" y="6858000"/>
                  </a:lnTo>
                  <a:close/>
                </a:path>
              </a:pathLst>
            </a:custGeom>
            <a:blipFill dpi="0" rotWithShape="1">
              <a:blip r:embed="rId2">
                <a:alphaModFix amt="70000"/>
              </a:blip>
              <a:srcRect/>
              <a:stretch>
                <a:fillRect l="-161907" r="-1500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8" name="平行四边形 7">
              <a:extLst>
                <a:ext uri="{FF2B5EF4-FFF2-40B4-BE49-F238E27FC236}">
                  <a16:creationId xmlns:a16="http://schemas.microsoft.com/office/drawing/2014/main" id="{EDE145AC-C5D9-23CE-1E60-E3CC633C1EB0}"/>
                </a:ext>
              </a:extLst>
            </p:cNvPr>
            <p:cNvSpPr/>
            <p:nvPr userDrawn="1"/>
          </p:nvSpPr>
          <p:spPr>
            <a:xfrm>
              <a:off x="6248008" y="-1"/>
              <a:ext cx="1633775" cy="3439954"/>
            </a:xfrm>
            <a:prstGeom prst="parallelogram">
              <a:avLst>
                <a:gd name="adj" fmla="val 74444"/>
              </a:avLst>
            </a:prstGeom>
            <a:solidFill>
              <a:schemeClr val="bg1">
                <a:alpha val="6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45865273-CD55-C2FA-04BB-421F5E0E1317}"/>
                </a:ext>
              </a:extLst>
            </p:cNvPr>
            <p:cNvSpPr/>
            <p:nvPr userDrawn="1"/>
          </p:nvSpPr>
          <p:spPr>
            <a:xfrm>
              <a:off x="2994636" y="3439953"/>
              <a:ext cx="4170727" cy="3420904"/>
            </a:xfrm>
            <a:prstGeom prst="parallelogram">
              <a:avLst>
                <a:gd name="adj" fmla="val 34946"/>
              </a:avLst>
            </a:prstGeom>
            <a:solidFill>
              <a:schemeClr val="accent5">
                <a:lumMod val="10000"/>
                <a:alpha val="2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/>
            </a:p>
          </p:txBody>
        </p:sp>
      </p:grpSp>
      <p:sp>
        <p:nvSpPr>
          <p:cNvPr id="10" name="标题 19">
            <a:extLst>
              <a:ext uri="{FF2B5EF4-FFF2-40B4-BE49-F238E27FC236}">
                <a16:creationId xmlns:a16="http://schemas.microsoft.com/office/drawing/2014/main" id="{4DE88B6F-7055-767D-B621-3D6197A06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346" y="1489066"/>
            <a:ext cx="444213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1" name="文本占位符 20">
            <a:extLst>
              <a:ext uri="{FF2B5EF4-FFF2-40B4-BE49-F238E27FC236}">
                <a16:creationId xmlns:a16="http://schemas.microsoft.com/office/drawing/2014/main" id="{CEBDE31C-C746-4258-9D22-DAD0F794A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11346" y="2384418"/>
            <a:ext cx="444213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accent4">
                    <a:lumMod val="50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849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2" y="6459787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3A3717A-5040-40EE-A337-D792C9EC5341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6" y="6459787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60" y="645978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D554A02-3A37-4901-AB9C-5E7477892CF3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74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8" r:id="rId13"/>
    <p:sldLayoutId id="2147483689" r:id="rId14"/>
    <p:sldLayoutId id="2147483690" r:id="rId15"/>
    <p:sldLayoutId id="2147483691" r:id="rId16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347" imgH="348" progId="TCLayout.ActiveDocument.1">
                  <p:embed/>
                </p:oleObj>
              </mc:Choice>
              <mc:Fallback>
                <p:oleObj name="think-cell Slide" r:id="rId2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977898" y="3204553"/>
            <a:ext cx="7175501" cy="2237785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sz="4800" b="1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  <a:t>“伴学智能体”设计</a:t>
            </a:r>
            <a:br>
              <a:rPr lang="en-US" altLang="zh-CN" sz="48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</a:br>
            <a:br>
              <a:rPr lang="en-US" altLang="zh-CN" sz="44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</a:br>
            <a:r>
              <a:rPr lang="en-US" altLang="zh-CN" sz="4400" dirty="0">
                <a:latin typeface="等线 Light" panose="02010600030101010101" pitchFamily="2" charset="-122"/>
                <a:ea typeface="等线 Light" panose="02010600030101010101" pitchFamily="2" charset="-122"/>
                <a:cs typeface="Roboto" panose="02000000000000000000" pitchFamily="2" charset="0"/>
              </a:rPr>
              <a:t>              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——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项目开题报告</a:t>
            </a: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&amp;</a:t>
            </a:r>
            <a:r>
              <a:rPr lang="zh-CN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等线 Light" panose="02010600030101010101" pitchFamily="2" charset="-122"/>
                <a:ea typeface="等线 Light" panose="02010600030101010101" pitchFamily="2" charset="-122"/>
              </a:rPr>
              <a:t>第一周汇报</a:t>
            </a:r>
            <a:endParaRPr lang="zh-CN" altLang="en-US" sz="4400" b="1" dirty="0">
              <a:solidFill>
                <a:schemeClr val="tx1">
                  <a:lumMod val="95000"/>
                  <a:lumOff val="5000"/>
                </a:schemeClr>
              </a:solidFill>
              <a:latin typeface="等线 Light" panose="02010600030101010101" pitchFamily="2" charset="-122"/>
              <a:ea typeface="等线 Light" panose="02010600030101010101" pitchFamily="2" charset="-122"/>
              <a:cs typeface="Roboto" panose="02000000000000000000" pitchFamily="2" charset="0"/>
            </a:endParaRPr>
          </a:p>
        </p:txBody>
      </p:sp>
      <p:sp>
        <p:nvSpPr>
          <p:cNvPr id="9" name="副标题 8">
            <a:extLst>
              <a:ext uri="{FF2B5EF4-FFF2-40B4-BE49-F238E27FC236}">
                <a16:creationId xmlns:a16="http://schemas.microsoft.com/office/drawing/2014/main" id="{5301FEF9-B146-A765-C5A3-688738B2E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698" y="5700650"/>
            <a:ext cx="7175501" cy="558799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PPT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制作、汇报：潘冠吾</a:t>
            </a:r>
          </a:p>
        </p:txBody>
      </p:sp>
      <p:sp>
        <p:nvSpPr>
          <p:cNvPr id="5" name="副标题 8">
            <a:extLst>
              <a:ext uri="{FF2B5EF4-FFF2-40B4-BE49-F238E27FC236}">
                <a16:creationId xmlns:a16="http://schemas.microsoft.com/office/drawing/2014/main" id="{4F26A4B7-A225-4219-5FB1-AD352ADD6569}"/>
              </a:ext>
            </a:extLst>
          </p:cNvPr>
          <p:cNvSpPr txBox="1">
            <a:spLocks/>
          </p:cNvSpPr>
          <p:nvPr/>
        </p:nvSpPr>
        <p:spPr>
          <a:xfrm>
            <a:off x="1155698" y="6056249"/>
            <a:ext cx="7175501" cy="558799"/>
          </a:xfrm>
          <a:prstGeom prst="rect">
            <a:avLst/>
          </a:prstGeom>
        </p:spPr>
        <p:txBody>
          <a:bodyPr vert="horz" lIns="0" tIns="45720" rIns="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1600" kern="1200">
                <a:solidFill>
                  <a:srgbClr val="3F82C4"/>
                </a:solidFill>
                <a:latin typeface="+mn-lt"/>
                <a:ea typeface="+mn-ea"/>
                <a:cs typeface="+mn-cs"/>
              </a:defRPr>
            </a:lvl1pPr>
            <a:lvl2pPr marL="457178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354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532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709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5886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062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24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418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小组成员：朱海、唐嘉阳、杨晓洁</a:t>
            </a:r>
          </a:p>
        </p:txBody>
      </p:sp>
    </p:spTree>
    <p:extLst>
      <p:ext uri="{BB962C8B-B14F-4D97-AF65-F5344CB8AC3E}">
        <p14:creationId xmlns:p14="http://schemas.microsoft.com/office/powerpoint/2010/main" val="2820449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8FC06A0-A4C3-B7B4-7829-B4A6A1B92C4C}"/>
              </a:ext>
            </a:extLst>
          </p:cNvPr>
          <p:cNvSpPr txBox="1"/>
          <p:nvPr/>
        </p:nvSpPr>
        <p:spPr>
          <a:xfrm>
            <a:off x="5099776" y="1577044"/>
            <a:ext cx="6307525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主要分为以下四个部分：</a:t>
            </a:r>
            <a:endParaRPr lang="en-US" altLang="zh-CN" sz="3200" dirty="0"/>
          </a:p>
          <a:p>
            <a:endParaRPr lang="en-US" altLang="zh-CN" sz="2800" dirty="0"/>
          </a:p>
          <a:p>
            <a:r>
              <a:rPr lang="zh-CN" altLang="en-US" sz="2400" dirty="0"/>
              <a:t>一、项目背景与研究价值</a:t>
            </a:r>
            <a:endParaRPr lang="en-US" altLang="zh-CN" sz="2400" dirty="0"/>
          </a:p>
          <a:p>
            <a:endParaRPr lang="en-US" altLang="zh-CN" sz="2400" dirty="0">
              <a:latin typeface="+mj-lt"/>
            </a:endParaRPr>
          </a:p>
          <a:p>
            <a:r>
              <a:rPr lang="zh-CN" altLang="en-US" sz="2400" dirty="0"/>
              <a:t>二、项目目标与研究内容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三、技术路线与实施方案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四、进度管理与预期成果 </a:t>
            </a:r>
            <a:endParaRPr lang="zh-CN" altLang="en-US" sz="2800" dirty="0"/>
          </a:p>
        </p:txBody>
      </p:sp>
      <p:pic>
        <p:nvPicPr>
          <p:cNvPr id="5122" name="Picture 2" descr="有哪些好看的PPT目录？ - 知乎">
            <a:extLst>
              <a:ext uri="{FF2B5EF4-FFF2-40B4-BE49-F238E27FC236}">
                <a16:creationId xmlns:a16="http://schemas.microsoft.com/office/drawing/2014/main" id="{017CF40C-61D5-5331-0271-334D4FDAE5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47"/>
          <a:stretch/>
        </p:blipFill>
        <p:spPr bwMode="auto">
          <a:xfrm>
            <a:off x="-1" y="1"/>
            <a:ext cx="5099775" cy="633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32460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484988" y="2129518"/>
            <a:ext cx="5494162" cy="895350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项目背景与研究价值</a:t>
            </a:r>
            <a:endParaRPr lang="en-US" altLang="zh-CN" sz="4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4025988" y="2009247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31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学习通下载-学习通最新版下载[电脑版]-PC下载网">
            <a:extLst>
              <a:ext uri="{FF2B5EF4-FFF2-40B4-BE49-F238E27FC236}">
                <a16:creationId xmlns:a16="http://schemas.microsoft.com/office/drawing/2014/main" id="{A19D79C7-9633-0640-B962-2283ED082556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1" r="18459"/>
          <a:stretch>
            <a:fillRect/>
          </a:stretch>
        </p:blipFill>
        <p:spPr bwMode="auto">
          <a:xfrm>
            <a:off x="405918" y="1245870"/>
            <a:ext cx="2274571" cy="2183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F70280-8C0D-37D2-B998-843302577F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831" y="652046"/>
            <a:ext cx="5392192" cy="343386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574D391-DC62-EC66-6256-966FB4A186C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一、项目背景与研究价值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7229AA-3FB2-ADB0-1669-DA96720F22EB}"/>
              </a:ext>
            </a:extLst>
          </p:cNvPr>
          <p:cNvSpPr txBox="1"/>
          <p:nvPr/>
        </p:nvSpPr>
        <p:spPr>
          <a:xfrm>
            <a:off x="405918" y="3897630"/>
            <a:ext cx="53319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传统在线教育的痛点</a:t>
            </a:r>
            <a:endParaRPr lang="zh-CN" altLang="en-US" sz="2400" dirty="0"/>
          </a:p>
          <a:p>
            <a:r>
              <a:rPr lang="zh-CN" altLang="en-US" sz="2000" b="1" dirty="0"/>
              <a:t>互动性缺失</a:t>
            </a:r>
            <a:r>
              <a:rPr lang="zh-CN" altLang="en-US" sz="2000" dirty="0"/>
              <a:t>：</a:t>
            </a:r>
            <a:r>
              <a:rPr lang="en-US" altLang="zh-CN" sz="2000" dirty="0"/>
              <a:t>90% </a:t>
            </a:r>
            <a:r>
              <a:rPr lang="zh-CN" altLang="en-US" sz="2000" dirty="0"/>
              <a:t>的在线教育平台仍以</a:t>
            </a:r>
            <a:r>
              <a:rPr lang="en-US" altLang="zh-CN" sz="2000" dirty="0"/>
              <a:t>"</a:t>
            </a:r>
            <a:r>
              <a:rPr lang="zh-CN" altLang="en-US" sz="2000" dirty="0"/>
              <a:t>视频</a:t>
            </a:r>
            <a:r>
              <a:rPr lang="en-US" altLang="zh-CN" sz="2000" dirty="0"/>
              <a:t>+</a:t>
            </a:r>
            <a:r>
              <a:rPr lang="zh-CN" altLang="en-US" sz="2000" dirty="0"/>
              <a:t>题库</a:t>
            </a:r>
            <a:r>
              <a:rPr lang="en-US" altLang="zh-CN" sz="2000" dirty="0"/>
              <a:t>"</a:t>
            </a:r>
            <a:r>
              <a:rPr lang="zh-CN" altLang="en-US" sz="2000" dirty="0"/>
              <a:t>单向输出为主，缺乏实时双向对话机制 </a:t>
            </a:r>
            <a:r>
              <a:rPr lang="en-US" altLang="zh-CN" sz="2000" baseline="30000" dirty="0"/>
              <a:t>[1]</a:t>
            </a:r>
          </a:p>
          <a:p>
            <a:r>
              <a:rPr lang="zh-CN" altLang="en-US" sz="2000" b="1" dirty="0"/>
              <a:t>学生孤独感强</a:t>
            </a:r>
            <a:r>
              <a:rPr lang="zh-CN" altLang="en-US" sz="2000" dirty="0"/>
              <a:t>：课后学习场景缺乏情感陪伴，</a:t>
            </a:r>
            <a:r>
              <a:rPr lang="en-US" altLang="zh-CN" sz="2000" dirty="0"/>
              <a:t>35.7% </a:t>
            </a:r>
            <a:r>
              <a:rPr lang="zh-CN" altLang="en-US" sz="2000" dirty="0"/>
              <a:t>的中学生表示</a:t>
            </a:r>
            <a:r>
              <a:rPr lang="en-US" altLang="zh-CN" sz="2000" dirty="0"/>
              <a:t>"</a:t>
            </a:r>
            <a:r>
              <a:rPr lang="zh-CN" altLang="en-US" sz="2000" dirty="0"/>
              <a:t>遇到难题时无人交流</a:t>
            </a:r>
            <a:r>
              <a:rPr lang="en-US" altLang="zh-CN" sz="2000" dirty="0"/>
              <a:t>" </a:t>
            </a:r>
            <a:r>
              <a:rPr lang="en-US" altLang="zh-CN" sz="2000" baseline="30000" dirty="0"/>
              <a:t>[2]</a:t>
            </a:r>
          </a:p>
          <a:p>
            <a:r>
              <a:rPr lang="zh-CN" altLang="en-US" sz="2000" b="1" dirty="0"/>
              <a:t>个性化反馈滞后</a:t>
            </a:r>
            <a:r>
              <a:rPr lang="zh-CN" altLang="en-US" sz="2000" dirty="0"/>
              <a:t>：人工批改平均延迟 </a:t>
            </a:r>
            <a:r>
              <a:rPr lang="en-US" altLang="zh-CN" sz="2000" dirty="0"/>
              <a:t>4-8 </a:t>
            </a:r>
            <a:r>
              <a:rPr lang="zh-CN" altLang="en-US" sz="2000" dirty="0"/>
              <a:t>小时，错过认知纠错的黄金窗口期</a:t>
            </a:r>
            <a:r>
              <a:rPr lang="zh-CN" altLang="en-US" sz="2000" baseline="30000" dirty="0"/>
              <a:t> </a:t>
            </a:r>
            <a:r>
              <a:rPr lang="en-US" altLang="zh-CN" sz="2000" baseline="30000" dirty="0"/>
              <a:t>[3]</a:t>
            </a:r>
          </a:p>
          <a:p>
            <a:pPr algn="l"/>
            <a:endParaRPr lang="zh-CN" altLang="en-US" dirty="0">
              <a:solidFill>
                <a:srgbClr val="1D1D1F"/>
              </a:solidFill>
              <a:latin typeface="system-u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1A541A-E51B-804A-5BA5-9756899FFFE3}"/>
              </a:ext>
            </a:extLst>
          </p:cNvPr>
          <p:cNvSpPr txBox="1"/>
          <p:nvPr/>
        </p:nvSpPr>
        <p:spPr>
          <a:xfrm>
            <a:off x="6257772" y="3897630"/>
            <a:ext cx="552831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/>
              <a:t>技术契机</a:t>
            </a:r>
            <a:endParaRPr lang="zh-CN" altLang="en-US" sz="2400" dirty="0"/>
          </a:p>
          <a:p>
            <a:r>
              <a:rPr lang="zh-CN" altLang="en-US" sz="2000" b="1" dirty="0"/>
              <a:t>大语言模型（</a:t>
            </a:r>
            <a:r>
              <a:rPr lang="en-US" altLang="zh-CN" sz="2000" b="1" dirty="0"/>
              <a:t>LLM</a:t>
            </a:r>
            <a:r>
              <a:rPr lang="zh-CN" altLang="en-US" sz="2000" b="1" dirty="0"/>
              <a:t>）</a:t>
            </a:r>
            <a:r>
              <a:rPr lang="zh-CN" altLang="en-US" sz="2000" dirty="0"/>
              <a:t>：</a:t>
            </a:r>
            <a:r>
              <a:rPr lang="en-US" altLang="zh-CN" sz="2000" dirty="0"/>
              <a:t>2025 </a:t>
            </a:r>
            <a:r>
              <a:rPr lang="zh-CN" altLang="en-US" sz="2000" dirty="0"/>
              <a:t>年主流模型在教育领域微调后，复杂问题推理准确率达 </a:t>
            </a:r>
            <a:r>
              <a:rPr lang="en-US" altLang="zh-CN" sz="2000" dirty="0"/>
              <a:t>89.6%</a:t>
            </a:r>
            <a:r>
              <a:rPr lang="en-US" altLang="zh-CN" sz="2000" baseline="30000" dirty="0"/>
              <a:t>[4]</a:t>
            </a:r>
          </a:p>
          <a:p>
            <a:r>
              <a:rPr lang="zh-CN" altLang="en-US" sz="2000" b="1" dirty="0"/>
              <a:t>检索增强生成（</a:t>
            </a:r>
            <a:r>
              <a:rPr lang="en-US" altLang="zh-CN" sz="2000" b="1" dirty="0"/>
              <a:t>RAG</a:t>
            </a:r>
            <a:r>
              <a:rPr lang="zh-CN" altLang="en-US" sz="2000" b="1" dirty="0"/>
              <a:t>）</a:t>
            </a:r>
            <a:r>
              <a:rPr lang="zh-CN" altLang="en-US" sz="2000" dirty="0"/>
              <a:t>：结合向量数据库与领域知识库，有效抑制幻觉，保障内容专业性 </a:t>
            </a:r>
            <a:r>
              <a:rPr lang="en-US" altLang="zh-CN" sz="2000" baseline="30000" dirty="0"/>
              <a:t>[5]</a:t>
            </a:r>
          </a:p>
          <a:p>
            <a:r>
              <a:rPr lang="zh-CN" altLang="en-US" sz="2000" b="1" dirty="0"/>
              <a:t>轻量化部署</a:t>
            </a:r>
            <a:r>
              <a:rPr lang="zh-CN" altLang="en-US" sz="2000" dirty="0"/>
              <a:t>：</a:t>
            </a:r>
            <a:r>
              <a:rPr lang="en-US" altLang="zh-CN" sz="2000" dirty="0"/>
              <a:t>7B </a:t>
            </a:r>
            <a:r>
              <a:rPr lang="zh-CN" altLang="en-US" sz="2000" dirty="0"/>
              <a:t>参数模型</a:t>
            </a:r>
            <a:r>
              <a:rPr lang="en-US" altLang="zh-CN" sz="2000" dirty="0"/>
              <a:t>+</a:t>
            </a:r>
            <a:r>
              <a:rPr lang="zh-CN" altLang="en-US" sz="2000" dirty="0"/>
              <a:t>量化技术，支持消费级硬件实时推理，降低落地成本 </a:t>
            </a:r>
            <a:r>
              <a:rPr lang="en-US" altLang="zh-CN" sz="2000" baseline="30000" dirty="0"/>
              <a:t>[8]</a:t>
            </a:r>
          </a:p>
        </p:txBody>
      </p:sp>
      <p:pic>
        <p:nvPicPr>
          <p:cNvPr id="1028" name="Picture 4" descr="知到app官方下载安装-知到智慧树网App官方正版下载 v5.3.0 安卓版-3673软件园">
            <a:extLst>
              <a:ext uri="{FF2B5EF4-FFF2-40B4-BE49-F238E27FC236}">
                <a16:creationId xmlns:a16="http://schemas.microsoft.com/office/drawing/2014/main" id="{F3BA1EF5-D432-B283-D5C4-DC1AD1663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451" y="1245870"/>
            <a:ext cx="2072640" cy="2072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92029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6356-5237-6DD3-708C-B14B3EB53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AF508-1CB1-AAAF-0D59-580D2CA05CD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一、项目背景与研究价值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ED53DE-C42F-3931-B7E6-BFE59AA7F9DA}"/>
              </a:ext>
            </a:extLst>
          </p:cNvPr>
          <p:cNvSpPr txBox="1"/>
          <p:nvPr/>
        </p:nvSpPr>
        <p:spPr>
          <a:xfrm>
            <a:off x="744855" y="2120949"/>
            <a:ext cx="1070229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为了解决以上痛点，基于目前的技术契机，我们期望设计一款</a:t>
            </a:r>
            <a:r>
              <a:rPr lang="en-US" altLang="zh-CN" sz="2400" b="1" dirty="0"/>
              <a:t>“</a:t>
            </a:r>
            <a:r>
              <a:rPr lang="zh-CN" altLang="en-US" sz="2400" b="1" dirty="0"/>
              <a:t>伴学智能体</a:t>
            </a:r>
            <a:r>
              <a:rPr lang="en-US" altLang="zh-CN" sz="2400" b="1" dirty="0"/>
              <a:t>”</a:t>
            </a:r>
            <a:r>
              <a:rPr lang="zh-CN" altLang="en-US" sz="2400" b="1" dirty="0"/>
              <a:t>，使之具有一下三位一体的架构，即同时作为：</a:t>
            </a:r>
            <a:endParaRPr lang="en-US" altLang="zh-CN" sz="2400" b="1" dirty="0"/>
          </a:p>
          <a:p>
            <a:endParaRPr lang="en-US" altLang="zh-CN" sz="2400" b="1" dirty="0"/>
          </a:p>
          <a:p>
            <a:r>
              <a:rPr lang="zh-CN" altLang="en-US" sz="2400" b="1" dirty="0"/>
              <a:t>知识导师</a:t>
            </a:r>
            <a:r>
              <a:rPr lang="zh-CN" altLang="en-US" sz="2400" dirty="0"/>
              <a:t>：基于学科知识图谱</a:t>
            </a:r>
            <a:r>
              <a:rPr lang="en-US" altLang="zh-CN" sz="2400" dirty="0"/>
              <a:t>+RAG </a:t>
            </a:r>
            <a:r>
              <a:rPr lang="zh-CN" altLang="en-US" sz="2400" dirty="0"/>
              <a:t>检索，提供精准、可溯源的答疑与讲解；</a:t>
            </a:r>
          </a:p>
          <a:p>
            <a:r>
              <a:rPr lang="zh-CN" altLang="en-US" sz="2400" b="1" dirty="0"/>
              <a:t>学习规划师</a:t>
            </a:r>
            <a:r>
              <a:rPr lang="zh-CN" altLang="en-US" sz="2400" dirty="0"/>
              <a:t>：动态分析学习行为数据，生成个性化路径与阶段性目标；</a:t>
            </a:r>
          </a:p>
          <a:p>
            <a:r>
              <a:rPr lang="zh-CN" altLang="en-US" sz="2400" b="1" dirty="0"/>
              <a:t>情感陪伴者</a:t>
            </a:r>
            <a:r>
              <a:rPr lang="zh-CN" altLang="en-US" sz="2400" dirty="0"/>
              <a:t>：识别用户情绪状态，通过共情话术与激励策略维持学习动机；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4911021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1E380-0391-DF45-29EE-C3C2088A9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9DF47-D37D-C0B7-2335-47B1B980F7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一、项目背景与研究价值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342878-7CF2-04CF-54D5-9D1F14D47FA5}"/>
              </a:ext>
            </a:extLst>
          </p:cNvPr>
          <p:cNvSpPr txBox="1"/>
          <p:nvPr/>
        </p:nvSpPr>
        <p:spPr>
          <a:xfrm>
            <a:off x="5678177" y="1252210"/>
            <a:ext cx="60979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400" b="1" i="0" dirty="0">
                <a:solidFill>
                  <a:srgbClr val="1D1D1F"/>
                </a:solidFill>
                <a:effectLst/>
                <a:latin typeface="system-ui"/>
              </a:rPr>
              <a:t>理论价值</a:t>
            </a:r>
            <a:endParaRPr lang="zh-CN" alt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探索 </a:t>
            </a:r>
            <a:r>
              <a:rPr lang="en-US" altLang="zh-CN" sz="2400" b="0" i="0" dirty="0">
                <a:solidFill>
                  <a:srgbClr val="1D1D1F"/>
                </a:solidFill>
                <a:effectLst/>
                <a:latin typeface="system-ui"/>
              </a:rPr>
              <a:t>AI 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在教育</a:t>
            </a:r>
            <a:r>
              <a:rPr lang="zh-CN" altLang="en-US" sz="2400" dirty="0">
                <a:solidFill>
                  <a:srgbClr val="1D1D1F"/>
                </a:solidFill>
                <a:latin typeface="system-ui"/>
              </a:rPr>
              <a:t>领域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中的应用边界，构建</a:t>
            </a:r>
            <a:r>
              <a:rPr lang="en-US" altLang="zh-CN" sz="2400" b="0" i="0" dirty="0">
                <a:solidFill>
                  <a:srgbClr val="1D1D1F"/>
                </a:solidFill>
                <a:effectLst/>
                <a:latin typeface="system-ui"/>
              </a:rPr>
              <a:t>“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认知负荷 </a:t>
            </a:r>
            <a:r>
              <a:rPr lang="en-US" altLang="zh-CN" sz="2400" b="0" i="0" dirty="0">
                <a:solidFill>
                  <a:srgbClr val="1D1D1F"/>
                </a:solidFill>
                <a:effectLst/>
                <a:latin typeface="system-ui"/>
              </a:rPr>
              <a:t>- 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情感反馈 </a:t>
            </a:r>
            <a:r>
              <a:rPr lang="en-US" altLang="zh-CN" sz="2400" b="0" i="0" dirty="0">
                <a:solidFill>
                  <a:srgbClr val="1D1D1F"/>
                </a:solidFill>
                <a:effectLst/>
                <a:latin typeface="system-ui"/>
              </a:rPr>
              <a:t>- 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行为激励</a:t>
            </a:r>
            <a:r>
              <a:rPr lang="en-US" altLang="zh-CN" sz="2400" b="0" i="0" dirty="0">
                <a:solidFill>
                  <a:srgbClr val="1D1D1F"/>
                </a:solidFill>
                <a:effectLst/>
                <a:latin typeface="system-ui"/>
              </a:rPr>
              <a:t>”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的新模式</a:t>
            </a:r>
            <a:endParaRPr lang="en-US" altLang="zh-CN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验证多智能体协作机制在个性化学习场景下的有效性，丰富人机协同学习理论体系</a:t>
            </a:r>
          </a:p>
          <a:p>
            <a:pPr algn="l">
              <a:buNone/>
            </a:pPr>
            <a:r>
              <a:rPr lang="zh-CN" altLang="en-US" sz="2400" b="1" i="0" dirty="0">
                <a:solidFill>
                  <a:srgbClr val="1D1D1F"/>
                </a:solidFill>
                <a:effectLst/>
                <a:latin typeface="system-ui"/>
              </a:rPr>
              <a:t>应用价值</a:t>
            </a:r>
            <a:endParaRPr lang="zh-CN" altLang="en-US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zh-CN" altLang="en-US" sz="2400" b="1" i="0" dirty="0">
                <a:solidFill>
                  <a:srgbClr val="1D1D1F"/>
                </a:solidFill>
                <a:effectLst/>
                <a:latin typeface="system-ui"/>
              </a:rPr>
              <a:t>降本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：智能伴学服务边际成本趋近于零，助力教育资源向薄弱地区普惠覆盖</a:t>
            </a:r>
          </a:p>
          <a:p>
            <a:pPr algn="l"/>
            <a:r>
              <a:rPr lang="zh-CN" altLang="en-US" sz="2400" b="1" i="0" dirty="0">
                <a:solidFill>
                  <a:srgbClr val="1D1D1F"/>
                </a:solidFill>
                <a:effectLst/>
                <a:latin typeface="system-ui"/>
              </a:rPr>
              <a:t>增效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：实时反馈</a:t>
            </a:r>
            <a:r>
              <a:rPr lang="en-US" altLang="zh-CN" sz="2400" b="0" i="0" dirty="0">
                <a:solidFill>
                  <a:srgbClr val="1D1D1F"/>
                </a:solidFill>
                <a:effectLst/>
                <a:latin typeface="system-ui"/>
              </a:rPr>
              <a:t>+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个性化路径，预计提升单位时间学习效率</a:t>
            </a:r>
            <a:endParaRPr lang="en-US" altLang="zh-CN" sz="2400" b="0" i="0" dirty="0">
              <a:solidFill>
                <a:srgbClr val="1D1D1F"/>
              </a:solidFill>
              <a:effectLst/>
              <a:latin typeface="system-ui"/>
            </a:endParaRPr>
          </a:p>
          <a:p>
            <a:pPr algn="l"/>
            <a:r>
              <a:rPr lang="zh-CN" altLang="en-US" sz="2400" b="1" i="0" dirty="0">
                <a:solidFill>
                  <a:srgbClr val="1D1D1F"/>
                </a:solidFill>
                <a:effectLst/>
                <a:latin typeface="system-ui"/>
              </a:rPr>
              <a:t>促公平</a:t>
            </a:r>
            <a:r>
              <a:rPr lang="zh-CN" altLang="en-US" sz="2400" b="0" i="0" dirty="0">
                <a:solidFill>
                  <a:srgbClr val="1D1D1F"/>
                </a:solidFill>
                <a:effectLst/>
                <a:latin typeface="system-ui"/>
              </a:rPr>
              <a:t>：打破时空与师资限制，为县域及农村学生提供同等质量的伴学支持</a:t>
            </a:r>
          </a:p>
        </p:txBody>
      </p:sp>
      <p:pic>
        <p:nvPicPr>
          <p:cNvPr id="2050" name="Picture 2" descr="AI智慧课程及教学平台-智慧教学-江苏金智教育信息股份有限公司-国内领先的高等教育信息化服务提供商">
            <a:extLst>
              <a:ext uri="{FF2B5EF4-FFF2-40B4-BE49-F238E27FC236}">
                <a16:creationId xmlns:a16="http://schemas.microsoft.com/office/drawing/2014/main" id="{7D8E60DA-2A62-B626-A3F0-BACA576891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96240" y="1252210"/>
            <a:ext cx="6628521" cy="478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870533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4025988" y="2009247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9EDAAC85-94DF-55C5-FC07-E3F9D9E0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158" y="2350447"/>
            <a:ext cx="4442135" cy="895350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项目目标与研究内容</a:t>
            </a:r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905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9844B-F87A-C65E-FBBC-44EC292F9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A2418-672F-FD1F-D8E3-FE377A824F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二、项目目标与研究内容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3D1FD3-F78B-2AB7-F028-7BB783193AB1}"/>
              </a:ext>
            </a:extLst>
          </p:cNvPr>
          <p:cNvSpPr txBox="1"/>
          <p:nvPr/>
        </p:nvSpPr>
        <p:spPr>
          <a:xfrm>
            <a:off x="481965" y="1252271"/>
            <a:ext cx="107022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核心功能目标：</a:t>
            </a:r>
            <a:endParaRPr lang="en-US" altLang="zh-CN" sz="2400" b="1" dirty="0"/>
          </a:p>
          <a:p>
            <a:r>
              <a:rPr lang="zh-CN" altLang="en-US" sz="2400" b="1" dirty="0"/>
              <a:t>智能问答系统</a:t>
            </a:r>
            <a:r>
              <a:rPr lang="zh-CN" altLang="en-US" sz="2400" dirty="0"/>
              <a:t>：构建可动态更新的知识库，支持学科知识点即时查询与解题步骤引导；同时创建用于记录对话数据的数据库，使智能体具备长时记忆与多轮上下文理解能力。</a:t>
            </a:r>
          </a:p>
          <a:p>
            <a:r>
              <a:rPr lang="zh-CN" altLang="en-US" sz="2400" b="1" dirty="0"/>
              <a:t>个性化学习路径</a:t>
            </a:r>
            <a:r>
              <a:rPr lang="zh-CN" altLang="en-US" sz="2400" dirty="0"/>
              <a:t>：对于不同的学习主题，通过学前测评评估用户能力，并生成用户画像，进而动态生成个性化学习路线；通过学后考察及时评估用户学习情况，智能判断是否进入下一章节的学习。</a:t>
            </a:r>
          </a:p>
          <a:p>
            <a:r>
              <a:rPr lang="zh-CN" altLang="en-US" sz="2400" b="1" dirty="0"/>
              <a:t>情绪识别与激励</a:t>
            </a:r>
            <a:r>
              <a:rPr lang="zh-CN" altLang="en-US" sz="2400" dirty="0"/>
              <a:t>：实时监测用户交互情感状态，自适应调整学习任务，并在挫败时提供鼓励，在懈怠时提供提醒。</a:t>
            </a:r>
            <a:endParaRPr lang="en-US" altLang="zh-CN" sz="2400" dirty="0"/>
          </a:p>
          <a:p>
            <a:r>
              <a:rPr lang="zh-CN" altLang="en-US" sz="2400" b="1" dirty="0"/>
              <a:t>多智能体融合：</a:t>
            </a:r>
            <a:r>
              <a:rPr lang="zh-CN" altLang="en-US" sz="2400" dirty="0"/>
              <a:t>提供多种国内外大模型的接口，用户可自行配置不同模型；同时，在后续附加功能的开发中灵活调用不同智能体，实现多智能体融合</a:t>
            </a:r>
          </a:p>
        </p:txBody>
      </p:sp>
    </p:spTree>
    <p:extLst>
      <p:ext uri="{BB962C8B-B14F-4D97-AF65-F5344CB8AC3E}">
        <p14:creationId xmlns:p14="http://schemas.microsoft.com/office/powerpoint/2010/main" val="2077124340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687191" y="2117152"/>
            <a:ext cx="7341159" cy="889937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技术路线与实施方案</a:t>
            </a:r>
            <a:endParaRPr lang="en-US" altLang="zh-CN" sz="3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3424570" y="2057016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51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CFEDF-F3B1-F319-3DF8-E6470864D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0B3080-F872-4DAF-E54B-99051D6819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三、技术路线与实施方案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A3B14E-F6A5-2215-31CE-FE45C77BB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0"/>
            <a:ext cx="9052561" cy="631991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C1D905E-F9F3-AB2B-D3A3-DFDD9776A3C8}"/>
              </a:ext>
            </a:extLst>
          </p:cNvPr>
          <p:cNvSpPr txBox="1"/>
          <p:nvPr/>
        </p:nvSpPr>
        <p:spPr>
          <a:xfrm>
            <a:off x="10316854" y="2375128"/>
            <a:ext cx="18751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本项目以</a:t>
            </a:r>
            <a:r>
              <a:rPr lang="en-US" altLang="zh-CN" sz="2400" b="1" dirty="0" err="1"/>
              <a:t>LangGraph</a:t>
            </a:r>
            <a:endParaRPr lang="en-US" altLang="zh-CN" sz="2400" b="1" dirty="0"/>
          </a:p>
          <a:p>
            <a:r>
              <a:rPr lang="zh-CN" altLang="en-US" sz="2400" b="1" dirty="0"/>
              <a:t>为核心框架进行开发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0591528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DCD8C-4261-AC84-0425-0EB179FBF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8EA1B-B6B2-63EB-D48C-78511C4D05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三、技术路线与实施方案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70ADA7-5BC1-EB85-F14C-466723CA72E6}"/>
              </a:ext>
            </a:extLst>
          </p:cNvPr>
          <p:cNvSpPr txBox="1"/>
          <p:nvPr/>
        </p:nvSpPr>
        <p:spPr>
          <a:xfrm>
            <a:off x="363227" y="1443841"/>
            <a:ext cx="1070229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模块一：基于动态知识更新与长时记忆的智能问答机制</a:t>
            </a:r>
            <a:endParaRPr lang="zh-CN" altLang="en-US" sz="2800" dirty="0"/>
          </a:p>
          <a:p>
            <a:r>
              <a:rPr lang="zh-CN" altLang="en-US" sz="2800" b="1" dirty="0"/>
              <a:t>动态知识库构建 </a:t>
            </a:r>
            <a:r>
              <a:rPr lang="en-US" altLang="zh-CN" sz="2800" b="1" dirty="0"/>
              <a:t>(RAG)</a:t>
            </a:r>
            <a:r>
              <a:rPr lang="zh-CN" altLang="en-US" sz="2800" dirty="0"/>
              <a:t>：</a:t>
            </a:r>
          </a:p>
          <a:p>
            <a:pPr lvl="1"/>
            <a:r>
              <a:rPr lang="zh-CN" altLang="en-US" sz="2800" dirty="0"/>
              <a:t>异构教育资源（教材</a:t>
            </a:r>
            <a:r>
              <a:rPr lang="en-US" altLang="zh-CN" sz="2800" dirty="0"/>
              <a:t>/</a:t>
            </a:r>
            <a:r>
              <a:rPr lang="zh-CN" altLang="en-US" sz="2800" dirty="0"/>
              <a:t>习题</a:t>
            </a:r>
            <a:r>
              <a:rPr lang="en-US" altLang="zh-CN" sz="2800" dirty="0"/>
              <a:t>/</a:t>
            </a:r>
            <a:r>
              <a:rPr lang="zh-CN" altLang="en-US" sz="2800" dirty="0"/>
              <a:t>逻辑）的结构化处理与向量化表示；</a:t>
            </a:r>
          </a:p>
          <a:p>
            <a:pPr lvl="1"/>
            <a:r>
              <a:rPr lang="zh-CN" altLang="en-US" sz="2800" dirty="0"/>
              <a:t>高效向量检索与语义匹配算法，解决大模型</a:t>
            </a:r>
            <a:r>
              <a:rPr lang="en-US" altLang="zh-CN" sz="2800" dirty="0"/>
              <a:t>“</a:t>
            </a:r>
            <a:r>
              <a:rPr lang="zh-CN" altLang="en-US" sz="2800" dirty="0"/>
              <a:t>幻觉</a:t>
            </a:r>
            <a:r>
              <a:rPr lang="en-US" altLang="zh-CN" sz="2800" dirty="0"/>
              <a:t>”</a:t>
            </a:r>
            <a:r>
              <a:rPr lang="zh-CN" altLang="en-US" sz="2800" dirty="0"/>
              <a:t>与知识滞后；</a:t>
            </a:r>
          </a:p>
          <a:p>
            <a:pPr lvl="1"/>
            <a:r>
              <a:rPr lang="zh-CN" altLang="en-US" sz="2800" dirty="0"/>
              <a:t>实现生成模型与知识库深度融合，确保教学内容精准来源于最新知识。</a:t>
            </a:r>
          </a:p>
          <a:p>
            <a:r>
              <a:rPr lang="zh-CN" altLang="en-US" sz="2800" b="1" dirty="0"/>
              <a:t>多轮对话状态追踪与长时记忆</a:t>
            </a:r>
            <a:r>
              <a:rPr lang="zh-CN" altLang="en-US" sz="2800" dirty="0"/>
              <a:t>：</a:t>
            </a:r>
          </a:p>
          <a:p>
            <a:pPr lvl="1"/>
            <a:r>
              <a:rPr lang="zh-CN" altLang="en-US" sz="2800" dirty="0"/>
              <a:t>建立教育场景对话数据存储模型，结构化记录意图与知识盲点；</a:t>
            </a:r>
          </a:p>
          <a:p>
            <a:pPr lvl="1"/>
            <a:r>
              <a:rPr lang="zh-CN" altLang="en-US" sz="2800" dirty="0"/>
              <a:t>基于会话标识符的上下文恢复机制，实现跨时间段学习接续；</a:t>
            </a:r>
          </a:p>
          <a:p>
            <a:pPr lvl="1"/>
            <a:r>
              <a:rPr lang="zh-CN" altLang="en-US" sz="2800" dirty="0"/>
              <a:t>完成对话历史语义压缩，将短期交互转化为长期用户认知档案。</a:t>
            </a:r>
          </a:p>
        </p:txBody>
      </p:sp>
    </p:spTree>
    <p:extLst>
      <p:ext uri="{BB962C8B-B14F-4D97-AF65-F5344CB8AC3E}">
        <p14:creationId xmlns:p14="http://schemas.microsoft.com/office/powerpoint/2010/main" val="1215639057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03B66-9565-4D59-800B-965AE1A45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8BF423-4EBB-6B01-D447-9E845890EF2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三、技术路线与实施方案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5A6375-7F81-927E-9577-834BB6C4D5F3}"/>
              </a:ext>
            </a:extLst>
          </p:cNvPr>
          <p:cNvSpPr txBox="1"/>
          <p:nvPr/>
        </p:nvSpPr>
        <p:spPr>
          <a:xfrm>
            <a:off x="363227" y="1443841"/>
            <a:ext cx="1070229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模块二：基于多维用户画像的个性化学习路径规划</a:t>
            </a:r>
            <a:endParaRPr lang="zh-CN" altLang="en-US" sz="2800" dirty="0"/>
          </a:p>
          <a:p>
            <a:r>
              <a:rPr lang="zh-CN" altLang="en-US" sz="2800" b="1" dirty="0"/>
              <a:t>多维度能力评估与动态画像</a:t>
            </a:r>
            <a:r>
              <a:rPr lang="zh-CN" altLang="en-US" sz="2800" dirty="0"/>
              <a:t>：</a:t>
            </a:r>
          </a:p>
          <a:p>
            <a:pPr lvl="1"/>
            <a:r>
              <a:rPr lang="zh-CN" altLang="en-US" sz="2800" dirty="0"/>
              <a:t>构建认知水平、逻辑思维、概念掌握度等评估指标体系（主观</a:t>
            </a:r>
            <a:r>
              <a:rPr lang="en-US" altLang="zh-CN" sz="2800" dirty="0"/>
              <a:t>-</a:t>
            </a:r>
            <a:r>
              <a:rPr lang="zh-CN" altLang="en-US" sz="2800" dirty="0"/>
              <a:t>客观相结合）；</a:t>
            </a:r>
          </a:p>
          <a:p>
            <a:pPr lvl="1"/>
            <a:r>
              <a:rPr lang="en-US" altLang="zh-CN" sz="2800" dirty="0"/>
              <a:t>“</a:t>
            </a:r>
            <a:r>
              <a:rPr lang="zh-CN" altLang="en-US" sz="2800" dirty="0"/>
              <a:t>学前 </a:t>
            </a:r>
            <a:r>
              <a:rPr lang="en-US" altLang="zh-CN" sz="2800" dirty="0"/>
              <a:t>- </a:t>
            </a:r>
            <a:r>
              <a:rPr lang="zh-CN" altLang="en-US" sz="2800" dirty="0"/>
              <a:t>学后</a:t>
            </a:r>
            <a:r>
              <a:rPr lang="en-US" altLang="zh-CN" sz="2800" dirty="0"/>
              <a:t>”</a:t>
            </a:r>
            <a:r>
              <a:rPr lang="zh-CN" altLang="en-US" sz="2800" dirty="0"/>
              <a:t>双重测评机制，实时捕捉用户状态动态变化；</a:t>
            </a:r>
          </a:p>
          <a:p>
            <a:pPr lvl="1"/>
            <a:r>
              <a:rPr lang="zh-CN" altLang="en-US" sz="2800" dirty="0"/>
              <a:t>基于贝叶斯网络</a:t>
            </a:r>
            <a:r>
              <a:rPr lang="en-US" altLang="zh-CN" sz="2800" dirty="0"/>
              <a:t>/</a:t>
            </a:r>
            <a:r>
              <a:rPr lang="zh-CN" altLang="en-US" sz="2800" dirty="0"/>
              <a:t>深度学习的画像建模算法，实现自适应更新。</a:t>
            </a:r>
          </a:p>
          <a:p>
            <a:r>
              <a:rPr lang="zh-CN" altLang="en-US" sz="2800" b="1" dirty="0"/>
              <a:t>基于知识图谱的自适应学习路径规划</a:t>
            </a:r>
            <a:r>
              <a:rPr lang="zh-CN" altLang="en-US" sz="2800" dirty="0"/>
              <a:t>：</a:t>
            </a:r>
          </a:p>
          <a:p>
            <a:pPr lvl="1"/>
            <a:r>
              <a:rPr lang="zh-CN" altLang="en-US" sz="2800" dirty="0"/>
              <a:t>构建知识点前驱后继关系的学科知识图谱；</a:t>
            </a:r>
          </a:p>
          <a:p>
            <a:pPr lvl="1"/>
            <a:r>
              <a:rPr lang="zh-CN" altLang="en-US" sz="2800" dirty="0"/>
              <a:t>基于强化学习的动态路由策略（进阶</a:t>
            </a:r>
            <a:r>
              <a:rPr lang="en-US" altLang="zh-CN" sz="2800" dirty="0"/>
              <a:t>/</a:t>
            </a:r>
            <a:r>
              <a:rPr lang="zh-CN" altLang="en-US" sz="2800" dirty="0"/>
              <a:t>强化</a:t>
            </a:r>
            <a:r>
              <a:rPr lang="en-US" altLang="zh-CN" sz="2800" dirty="0"/>
              <a:t>/</a:t>
            </a:r>
            <a:r>
              <a:rPr lang="zh-CN" altLang="en-US" sz="2800" dirty="0"/>
              <a:t>回溯）；</a:t>
            </a:r>
          </a:p>
          <a:p>
            <a:pPr lvl="1"/>
            <a:r>
              <a:rPr lang="zh-CN" altLang="en-US" sz="2800" dirty="0"/>
              <a:t>学习路径动态生成与自动优化，突破传统线上死板的教学局限。</a:t>
            </a:r>
          </a:p>
        </p:txBody>
      </p:sp>
    </p:spTree>
    <p:extLst>
      <p:ext uri="{BB962C8B-B14F-4D97-AF65-F5344CB8AC3E}">
        <p14:creationId xmlns:p14="http://schemas.microsoft.com/office/powerpoint/2010/main" val="53012249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C01EA-EF30-A367-8A3D-21BA009DE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49F4A-ED89-FA34-035E-8F5E60FCA7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三、技术路线与实施方案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14F353-3986-13BE-CB28-76DD4D2E6DE4}"/>
              </a:ext>
            </a:extLst>
          </p:cNvPr>
          <p:cNvSpPr txBox="1"/>
          <p:nvPr/>
        </p:nvSpPr>
        <p:spPr>
          <a:xfrm>
            <a:off x="363226" y="1503731"/>
            <a:ext cx="112267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模块三：交互式情感状态感知与自适应激励策略</a:t>
            </a:r>
            <a:endParaRPr lang="zh-CN" altLang="en-US" sz="2800" dirty="0"/>
          </a:p>
          <a:p>
            <a:r>
              <a:rPr lang="zh-CN" altLang="en-US" sz="2800" b="1" dirty="0"/>
              <a:t>开发双重维度情绪识别技术</a:t>
            </a:r>
            <a:r>
              <a:rPr lang="zh-CN" altLang="en-US" sz="2800" dirty="0"/>
              <a:t>：</a:t>
            </a:r>
          </a:p>
          <a:p>
            <a:pPr lvl="1"/>
            <a:r>
              <a:rPr lang="zh-CN" altLang="en-US" sz="2800" dirty="0"/>
              <a:t>面向教育对话文本的情感分析算法（</a:t>
            </a:r>
            <a:r>
              <a:rPr lang="en-US" altLang="zh-CN" sz="2800" dirty="0"/>
              <a:t>NLP</a:t>
            </a:r>
            <a:r>
              <a:rPr lang="zh-CN" altLang="en-US" sz="2800" dirty="0"/>
              <a:t>）；</a:t>
            </a:r>
          </a:p>
          <a:p>
            <a:pPr lvl="1"/>
            <a:r>
              <a:rPr lang="zh-CN" altLang="en-US" sz="2800" dirty="0"/>
              <a:t>结合响应延迟、追问频率、语言风格，部署多模态情感模型（</a:t>
            </a:r>
            <a:r>
              <a:rPr lang="en-US" altLang="zh-CN" sz="2800" dirty="0"/>
              <a:t>LLM</a:t>
            </a:r>
            <a:r>
              <a:rPr lang="zh-CN" altLang="en-US" sz="2800" dirty="0"/>
              <a:t>）。</a:t>
            </a:r>
          </a:p>
          <a:p>
            <a:r>
              <a:rPr lang="zh-CN" altLang="en-US" sz="2800" b="1" dirty="0"/>
              <a:t>情感驱动的干预反馈</a:t>
            </a:r>
            <a:r>
              <a:rPr lang="zh-CN" altLang="en-US" sz="2800" dirty="0"/>
              <a:t>：</a:t>
            </a:r>
          </a:p>
          <a:p>
            <a:pPr lvl="1"/>
            <a:r>
              <a:rPr lang="zh-CN" altLang="en-US" sz="2800" dirty="0"/>
              <a:t>建立</a:t>
            </a:r>
            <a:r>
              <a:rPr lang="en-US" altLang="zh-CN" sz="2800" dirty="0"/>
              <a:t>“</a:t>
            </a:r>
            <a:r>
              <a:rPr lang="zh-CN" altLang="en-US" sz="2800" dirty="0"/>
              <a:t>学习状态 </a:t>
            </a:r>
            <a:r>
              <a:rPr lang="en-US" altLang="zh-CN" sz="2800" dirty="0"/>
              <a:t>- </a:t>
            </a:r>
            <a:r>
              <a:rPr lang="zh-CN" altLang="en-US" sz="2800" dirty="0"/>
              <a:t>情感反馈</a:t>
            </a:r>
            <a:r>
              <a:rPr lang="en-US" altLang="zh-CN" sz="2800" dirty="0"/>
              <a:t>”</a:t>
            </a:r>
            <a:r>
              <a:rPr lang="zh-CN" altLang="en-US" sz="2800" dirty="0"/>
              <a:t>映射模型，研究最优干预策略；</a:t>
            </a:r>
          </a:p>
          <a:p>
            <a:pPr lvl="1"/>
            <a:r>
              <a:rPr lang="zh-CN" altLang="en-US" sz="2800" dirty="0"/>
              <a:t>生成自适应激励话术，实现“情感陪伴”。</a:t>
            </a:r>
          </a:p>
        </p:txBody>
      </p:sp>
    </p:spTree>
    <p:extLst>
      <p:ext uri="{BB962C8B-B14F-4D97-AF65-F5344CB8AC3E}">
        <p14:creationId xmlns:p14="http://schemas.microsoft.com/office/powerpoint/2010/main" val="3884229373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C2B3-D176-189F-38FF-391E43086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660F4B-7CDA-8BE9-B525-6833FBFAA4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三、技术路线与实施方案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6F19AE-29C6-FF3C-749D-92E8C0B6D2D7}"/>
              </a:ext>
            </a:extLst>
          </p:cNvPr>
          <p:cNvSpPr txBox="1"/>
          <p:nvPr/>
        </p:nvSpPr>
        <p:spPr>
          <a:xfrm>
            <a:off x="363226" y="1503731"/>
            <a:ext cx="112267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模块四：异构大模型协同与多智能体融合架构</a:t>
            </a:r>
            <a:endParaRPr lang="zh-CN" altLang="en-US" sz="2800" dirty="0"/>
          </a:p>
          <a:p>
            <a:r>
              <a:rPr lang="zh-CN" altLang="en-US" sz="2800" b="1" dirty="0"/>
              <a:t>大模型统一适配接口</a:t>
            </a:r>
            <a:r>
              <a:rPr lang="zh-CN" altLang="en-US" sz="2800" dirty="0"/>
              <a:t>：</a:t>
            </a:r>
          </a:p>
          <a:p>
            <a:pPr lvl="1"/>
            <a:r>
              <a:rPr lang="zh-CN" altLang="en-US" sz="2800" dirty="0"/>
              <a:t>使模型无关抽象层设计，屏蔽不同底层模型 </a:t>
            </a:r>
            <a:r>
              <a:rPr lang="en-US" altLang="zh-CN" sz="2800" dirty="0"/>
              <a:t>API </a:t>
            </a:r>
            <a:r>
              <a:rPr lang="zh-CN" altLang="en-US" sz="2800" dirty="0"/>
              <a:t>差异；</a:t>
            </a:r>
          </a:p>
          <a:p>
            <a:pPr lvl="1"/>
            <a:r>
              <a:rPr lang="zh-CN" altLang="en-US" sz="2800" dirty="0"/>
              <a:t>配置驱动的模型热切换机制，使用户可灵活选择基础模型。</a:t>
            </a:r>
          </a:p>
          <a:p>
            <a:r>
              <a:rPr lang="zh-CN" altLang="en-US" sz="2800" b="1" dirty="0"/>
              <a:t>任务驱动的多智能体协作</a:t>
            </a:r>
            <a:r>
              <a:rPr lang="zh-CN" altLang="en-US" sz="2800" dirty="0"/>
              <a:t>：</a:t>
            </a:r>
          </a:p>
          <a:p>
            <a:pPr lvl="1"/>
            <a:r>
              <a:rPr lang="zh-CN" altLang="en-US" sz="2800" dirty="0"/>
              <a:t>定义</a:t>
            </a:r>
            <a:r>
              <a:rPr lang="en-US" altLang="zh-CN" sz="2800" dirty="0"/>
              <a:t>“</a:t>
            </a:r>
            <a:r>
              <a:rPr lang="zh-CN" altLang="en-US" sz="2800" dirty="0"/>
              <a:t>讲授者</a:t>
            </a:r>
            <a:r>
              <a:rPr lang="en-US" altLang="zh-CN" sz="2800" dirty="0"/>
              <a:t>”“</a:t>
            </a:r>
            <a:r>
              <a:rPr lang="zh-CN" altLang="en-US" sz="2800" dirty="0"/>
              <a:t>出题者</a:t>
            </a:r>
            <a:r>
              <a:rPr lang="en-US" altLang="zh-CN" sz="2800" dirty="0"/>
              <a:t>”“</a:t>
            </a:r>
            <a:r>
              <a:rPr lang="zh-CN" altLang="en-US" sz="2800" dirty="0"/>
              <a:t>评估者</a:t>
            </a:r>
            <a:r>
              <a:rPr lang="en-US" altLang="zh-CN" sz="2800" dirty="0"/>
              <a:t>”</a:t>
            </a:r>
            <a:r>
              <a:rPr lang="zh-CN" altLang="en-US" sz="2800" dirty="0"/>
              <a:t>等职能智能体行为规范，实现各司其职；</a:t>
            </a:r>
          </a:p>
          <a:p>
            <a:pPr lvl="1"/>
            <a:r>
              <a:rPr lang="zh-CN" altLang="en-US" sz="2800" dirty="0"/>
              <a:t>构建事件驱动协作总线，实现模块解耦与异步通信；</a:t>
            </a:r>
          </a:p>
          <a:p>
            <a:pPr lvl="1"/>
            <a:r>
              <a:rPr lang="zh-CN" altLang="en-US" sz="2800" dirty="0"/>
              <a:t>设计复杂教学任务分配算法</a:t>
            </a:r>
            <a:r>
              <a:rPr lang="en-US" altLang="zh-CN" sz="2800" dirty="0"/>
              <a:t>/</a:t>
            </a:r>
            <a:r>
              <a:rPr lang="zh-CN" altLang="en-US" sz="2800" dirty="0"/>
              <a:t>任务分配大模型，保持教学逻辑一致性。</a:t>
            </a:r>
          </a:p>
        </p:txBody>
      </p:sp>
    </p:spTree>
    <p:extLst>
      <p:ext uri="{BB962C8B-B14F-4D97-AF65-F5344CB8AC3E}">
        <p14:creationId xmlns:p14="http://schemas.microsoft.com/office/powerpoint/2010/main" val="3742210194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392937" y="2129518"/>
            <a:ext cx="4442135" cy="89535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进度管理与预期成果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4025988" y="2009247"/>
            <a:ext cx="1168104" cy="1015623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6"/>
                </a:solidFill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/04</a:t>
            </a:r>
            <a:endParaRPr lang="zh-CN" altLang="en-US" spc="100" dirty="0">
              <a:solidFill>
                <a:schemeClr val="accent6"/>
              </a:solidFill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803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3DFD7-654C-388F-AAB6-1C37F176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B2988C-42A9-104B-A3AA-775CFA4118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四、进度管理与预期成果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3B6CB7-DB31-E54A-DFCB-1CBDACC9CFB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46"/>
          <a:stretch>
            <a:fillRect/>
          </a:stretch>
        </p:blipFill>
        <p:spPr>
          <a:xfrm>
            <a:off x="528323" y="1012477"/>
            <a:ext cx="11135353" cy="522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072217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0B59B-A0A3-D766-84C0-796CA48F8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10AF3-F0D2-8560-1427-4DFA361623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四、进度管理与预期成果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A194EAE-4BC0-6404-71AE-0E04D4B21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64" y="1251584"/>
            <a:ext cx="11735071" cy="435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77636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2C894-DA8E-FACF-F1DE-8A4FA120A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606A6-D7D2-FED0-8207-D859C08E5A1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四、进度管理与预期成果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8BA3AD-B08F-5A35-5AD3-593ED0DF6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42" y="1200150"/>
            <a:ext cx="1166431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044248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1B0B9-7D93-D447-2816-4516730D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9B4CF-7D13-FD77-8D36-4D7D5D881AC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四、进度管理与预期成果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748EB48-A897-D041-9121-F2A839724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2191"/>
            <a:ext cx="12192000" cy="313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496545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BEEFE-2831-1199-5D40-4EBB15A79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apk反编译软件如何使用 apk反编译生成工程-IDA中文网站">
            <a:extLst>
              <a:ext uri="{FF2B5EF4-FFF2-40B4-BE49-F238E27FC236}">
                <a16:creationId xmlns:a16="http://schemas.microsoft.com/office/drawing/2014/main" id="{0942811E-0E73-CEAA-3255-EE6825AA3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4582" y="727115"/>
            <a:ext cx="4496327" cy="3735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【GitHub.io/Github Pages使用教程】从头开始搭建自己的Github Pages，打造个人博客网站，展示个人简历、项目、文档 ...">
            <a:extLst>
              <a:ext uri="{FF2B5EF4-FFF2-40B4-BE49-F238E27FC236}">
                <a16:creationId xmlns:a16="http://schemas.microsoft.com/office/drawing/2014/main" id="{6667FE7F-6E40-7254-A1AF-48985C9F7A08}"/>
              </a:ext>
            </a:extLst>
          </p:cNvPr>
          <p:cNvPicPr>
            <a:picLocks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51" r="12473"/>
          <a:stretch>
            <a:fillRect/>
          </a:stretch>
        </p:blipFill>
        <p:spPr bwMode="auto">
          <a:xfrm>
            <a:off x="363227" y="1303020"/>
            <a:ext cx="3152246" cy="251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8968526-09BA-7128-9977-E259FFA45F1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227" y="229839"/>
            <a:ext cx="4282732" cy="782638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四、进度管理与预期成果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E343E7-093C-E9DA-4E87-1E10A4D16C53}"/>
              </a:ext>
            </a:extLst>
          </p:cNvPr>
          <p:cNvSpPr txBox="1"/>
          <p:nvPr/>
        </p:nvSpPr>
        <p:spPr>
          <a:xfrm>
            <a:off x="471091" y="3822561"/>
            <a:ext cx="583310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2800" b="1" dirty="0"/>
              <a:t>实物成果：</a:t>
            </a:r>
            <a:endParaRPr lang="en-US" altLang="zh-CN" sz="2800" b="1" dirty="0"/>
          </a:p>
          <a:p>
            <a:pPr algn="l">
              <a:buNone/>
            </a:pPr>
            <a:r>
              <a:rPr lang="zh-CN" altLang="en-US" sz="2800" dirty="0"/>
              <a:t>可运行的</a:t>
            </a:r>
            <a:r>
              <a:rPr lang="en-US" altLang="zh-CN" sz="2800" dirty="0"/>
              <a:t>“</a:t>
            </a:r>
            <a:r>
              <a:rPr lang="zh-CN" altLang="en-US" sz="2800" dirty="0"/>
              <a:t>伴学智能体</a:t>
            </a:r>
            <a:r>
              <a:rPr lang="en-US" altLang="zh-CN" sz="2800" dirty="0"/>
              <a:t>”</a:t>
            </a:r>
            <a:r>
              <a:rPr lang="zh-CN" altLang="en-US" sz="2800" dirty="0"/>
              <a:t>系统：</a:t>
            </a:r>
          </a:p>
          <a:p>
            <a:pPr algn="l"/>
            <a:r>
              <a:rPr lang="en-US" altLang="zh-CN" sz="2800" dirty="0"/>
              <a:t>	</a:t>
            </a:r>
            <a:r>
              <a:rPr lang="zh-CN" altLang="en-US" sz="2800" dirty="0"/>
              <a:t>完整源代码（</a:t>
            </a:r>
            <a:r>
              <a:rPr lang="en-US" altLang="zh-CN" sz="2800" dirty="0"/>
              <a:t>GitHub</a:t>
            </a:r>
            <a:r>
              <a:rPr lang="zh-CN" altLang="en-US" sz="2800" dirty="0"/>
              <a:t>仓库）</a:t>
            </a:r>
          </a:p>
          <a:p>
            <a:pPr algn="l"/>
            <a:r>
              <a:rPr lang="en-US" altLang="zh-CN" sz="2800" dirty="0"/>
              <a:t>	</a:t>
            </a:r>
            <a:r>
              <a:rPr lang="zh-CN" altLang="en-US" sz="2800" dirty="0"/>
              <a:t>可执行安装包</a:t>
            </a:r>
            <a:r>
              <a:rPr lang="en-US" altLang="zh-CN" sz="2800" dirty="0"/>
              <a:t>/</a:t>
            </a:r>
            <a:r>
              <a:rPr lang="zh-CN" altLang="en-US" sz="2800" dirty="0"/>
              <a:t>部署脚本</a:t>
            </a:r>
          </a:p>
          <a:p>
            <a:pPr lvl="1"/>
            <a:r>
              <a:rPr lang="zh-CN" altLang="en-US" sz="2800" dirty="0"/>
              <a:t>轻量化</a:t>
            </a:r>
            <a:r>
              <a:rPr lang="en-US" altLang="zh-CN" sz="2800" dirty="0"/>
              <a:t>Web</a:t>
            </a:r>
            <a:r>
              <a:rPr lang="zh-CN" altLang="en-US" sz="2800" dirty="0"/>
              <a:t>平台应用（远程调用）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40F6A7-8056-9DE3-F169-87661E57C76F}"/>
              </a:ext>
            </a:extLst>
          </p:cNvPr>
          <p:cNvSpPr txBox="1"/>
          <p:nvPr/>
        </p:nvSpPr>
        <p:spPr>
          <a:xfrm>
            <a:off x="6196966" y="3822561"/>
            <a:ext cx="60979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文档成果：</a:t>
            </a:r>
            <a:endParaRPr lang="en-US" altLang="zh-CN" sz="2800" b="1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中期报告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结题报告</a:t>
            </a:r>
            <a:endParaRPr lang="en-US" altLang="zh-CN" sz="2800" dirty="0"/>
          </a:p>
          <a:p>
            <a:r>
              <a:rPr lang="en-US" altLang="zh-CN" sz="2800" dirty="0"/>
              <a:t>	</a:t>
            </a:r>
            <a:r>
              <a:rPr lang="zh-CN" altLang="en-US" sz="2800" dirty="0"/>
              <a:t>系统设计文档</a:t>
            </a:r>
            <a:endParaRPr lang="en-US" altLang="zh-CN" sz="2800" dirty="0"/>
          </a:p>
          <a:p>
            <a:r>
              <a:rPr lang="en-US" altLang="zh-CN" sz="2800" dirty="0"/>
              <a:t>	API</a:t>
            </a:r>
            <a:r>
              <a:rPr lang="zh-CN" altLang="en-US" sz="2800" dirty="0"/>
              <a:t>接口文档</a:t>
            </a:r>
          </a:p>
        </p:txBody>
      </p:sp>
      <p:pic>
        <p:nvPicPr>
          <p:cNvPr id="3074" name="Picture 2" descr="web应用开发用什么语言？__凤凰网">
            <a:extLst>
              <a:ext uri="{FF2B5EF4-FFF2-40B4-BE49-F238E27FC236}">
                <a16:creationId xmlns:a16="http://schemas.microsoft.com/office/drawing/2014/main" id="{47EE958E-B485-025E-2A81-C2DEDCEE8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3255" y="1237105"/>
            <a:ext cx="3447275" cy="258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7925009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0C623-5B45-4691-1037-C3429A276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15512B16-B889-E723-76A0-3848B47CD449}"/>
              </a:ext>
            </a:extLst>
          </p:cNvPr>
          <p:cNvSpPr txBox="1">
            <a:spLocks/>
          </p:cNvSpPr>
          <p:nvPr/>
        </p:nvSpPr>
        <p:spPr>
          <a:xfrm>
            <a:off x="363227" y="229839"/>
            <a:ext cx="6172585" cy="782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/>
              <a:t>参考文献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312B89-5EF7-5240-8A22-D995C20892EE}"/>
              </a:ext>
            </a:extLst>
          </p:cNvPr>
          <p:cNvSpPr txBox="1"/>
          <p:nvPr/>
        </p:nvSpPr>
        <p:spPr>
          <a:xfrm>
            <a:off x="363227" y="1179612"/>
            <a:ext cx="116744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[1] </a:t>
            </a:r>
            <a:r>
              <a:rPr lang="zh-CN" altLang="en-US" dirty="0"/>
              <a:t>刘洋，陈思。在线教育平台交互模式演变与用户参与度研究 </a:t>
            </a:r>
            <a:r>
              <a:rPr lang="en-US" altLang="zh-CN" dirty="0"/>
              <a:t>[J]. </a:t>
            </a:r>
            <a:r>
              <a:rPr lang="zh-CN" altLang="en-US" dirty="0"/>
              <a:t>电化教育研究，</a:t>
            </a:r>
            <a:r>
              <a:rPr lang="en-US" altLang="zh-CN" dirty="0"/>
              <a:t>2025, 46(1): 55-64.</a:t>
            </a:r>
          </a:p>
          <a:p>
            <a:r>
              <a:rPr lang="en-US" altLang="zh-CN" dirty="0"/>
              <a:t>[2] </a:t>
            </a:r>
            <a:r>
              <a:rPr lang="zh-CN" altLang="en-US" dirty="0"/>
              <a:t>王雪，李想。中学生课后学习情感需求调查报告 </a:t>
            </a:r>
            <a:r>
              <a:rPr lang="en-US" altLang="zh-CN" dirty="0"/>
              <a:t>[R]. </a:t>
            </a:r>
            <a:r>
              <a:rPr lang="zh-CN" altLang="en-US" dirty="0"/>
              <a:t>北京：中国青少年研究中心，</a:t>
            </a:r>
            <a:r>
              <a:rPr lang="en-US" altLang="zh-CN" dirty="0"/>
              <a:t>2025.</a:t>
            </a:r>
          </a:p>
          <a:p>
            <a:r>
              <a:rPr lang="en-US" altLang="zh-CN" dirty="0"/>
              <a:t>[3] </a:t>
            </a:r>
            <a:r>
              <a:rPr lang="zh-CN" altLang="en-US" dirty="0"/>
              <a:t>张磊，赵敏。智能批改系统响应时延对学习效果的实证分析 </a:t>
            </a:r>
            <a:r>
              <a:rPr lang="en-US" altLang="zh-CN" dirty="0"/>
              <a:t>[J]. </a:t>
            </a:r>
            <a:r>
              <a:rPr lang="zh-CN" altLang="en-US" dirty="0"/>
              <a:t>现代教育技术，</a:t>
            </a:r>
            <a:r>
              <a:rPr lang="en-US" altLang="zh-CN" dirty="0"/>
              <a:t>2025, 35(3): 78-86.</a:t>
            </a:r>
          </a:p>
          <a:p>
            <a:r>
              <a:rPr lang="en-US" altLang="zh-CN" dirty="0"/>
              <a:t>[4] </a:t>
            </a:r>
            <a:r>
              <a:rPr lang="zh-CN" altLang="en-US" dirty="0"/>
              <a:t>陈静，吴昊，刘伟。教育领域大模型微调策略与能力评估 </a:t>
            </a:r>
            <a:r>
              <a:rPr lang="en-US" altLang="zh-CN" dirty="0"/>
              <a:t>[J]. </a:t>
            </a:r>
            <a:r>
              <a:rPr lang="zh-CN" altLang="en-US" dirty="0"/>
              <a:t>自动化学报，</a:t>
            </a:r>
            <a:r>
              <a:rPr lang="en-US" altLang="zh-CN" dirty="0"/>
              <a:t>2025, 51(4): 801-815.</a:t>
            </a:r>
          </a:p>
          <a:p>
            <a:r>
              <a:rPr lang="en-US" altLang="zh-CN" dirty="0"/>
              <a:t>[5] </a:t>
            </a:r>
            <a:r>
              <a:rPr lang="zh-CN" altLang="en-US" dirty="0"/>
              <a:t>李哲，王琳。检索增强生成技术在垂直领域问答系统中的应用综述 </a:t>
            </a:r>
            <a:r>
              <a:rPr lang="en-US" altLang="zh-CN" dirty="0"/>
              <a:t>[J]. </a:t>
            </a:r>
            <a:r>
              <a:rPr lang="zh-CN" altLang="en-US" dirty="0"/>
              <a:t>计算机研究与发展，</a:t>
            </a:r>
            <a:r>
              <a:rPr lang="en-US" altLang="zh-CN" dirty="0"/>
              <a:t>2025, 62(2): 321-335.</a:t>
            </a:r>
          </a:p>
          <a:p>
            <a:r>
              <a:rPr lang="en-US" altLang="zh-CN" dirty="0"/>
              <a:t>[6] </a:t>
            </a:r>
            <a:r>
              <a:rPr lang="zh-CN" altLang="en-US" dirty="0"/>
              <a:t>郑浩，杨帆。大模型轻量化部署技术进展：量化、蒸馏与边缘推理 </a:t>
            </a:r>
            <a:r>
              <a:rPr lang="en-US" altLang="zh-CN" dirty="0"/>
              <a:t>[J]. </a:t>
            </a:r>
            <a:r>
              <a:rPr lang="zh-CN" altLang="en-US" dirty="0"/>
              <a:t>软件学报，</a:t>
            </a:r>
            <a:r>
              <a:rPr lang="en-US" altLang="zh-CN" dirty="0"/>
              <a:t>2025, 36(5): 1123-1140.</a:t>
            </a:r>
          </a:p>
          <a:p>
            <a:r>
              <a:rPr lang="en-US" altLang="zh-CN" sz="2400" dirty="0"/>
              <a:t>	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73719796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1F342-8453-F4B6-3C55-C281E8EBA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5FDEB69-F9A6-12E5-B83C-492EC594B1E6}"/>
              </a:ext>
            </a:extLst>
          </p:cNvPr>
          <p:cNvSpPr txBox="1">
            <a:spLocks/>
          </p:cNvSpPr>
          <p:nvPr/>
        </p:nvSpPr>
        <p:spPr>
          <a:xfrm>
            <a:off x="2350802" y="2541497"/>
            <a:ext cx="7949647" cy="8875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400" dirty="0"/>
              <a:t>谢谢大家！欢迎批评与指正！</a:t>
            </a:r>
          </a:p>
        </p:txBody>
      </p:sp>
    </p:spTree>
    <p:extLst>
      <p:ext uri="{BB962C8B-B14F-4D97-AF65-F5344CB8AC3E}">
        <p14:creationId xmlns:p14="http://schemas.microsoft.com/office/powerpoint/2010/main" val="155699887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ont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1373</TotalTime>
  <Words>1420</Words>
  <Application>Microsoft Office PowerPoint</Application>
  <PresentationFormat>宽屏</PresentationFormat>
  <Paragraphs>113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system-ui</vt:lpstr>
      <vt:lpstr>等线</vt:lpstr>
      <vt:lpstr>等线 Light</vt:lpstr>
      <vt:lpstr>Arial</vt:lpstr>
      <vt:lpstr>Calibri</vt:lpstr>
      <vt:lpstr>Calibri Light</vt:lpstr>
      <vt:lpstr>回顾</vt:lpstr>
      <vt:lpstr>think-cell Slide</vt:lpstr>
      <vt:lpstr>“伴学智能体”设计                ——项目开题报告&amp;第一周汇报</vt:lpstr>
      <vt:lpstr>PowerPoint 演示文稿</vt:lpstr>
      <vt:lpstr>项目背景与研究价值</vt:lpstr>
      <vt:lpstr>一、项目背景与研究价值</vt:lpstr>
      <vt:lpstr>一、项目背景与研究价值</vt:lpstr>
      <vt:lpstr>一、项目背景与研究价值</vt:lpstr>
      <vt:lpstr>项目目标与研究内容 </vt:lpstr>
      <vt:lpstr>二、项目目标与研究内容</vt:lpstr>
      <vt:lpstr>技术路线与实施方案</vt:lpstr>
      <vt:lpstr>三、技术路线与实施方案</vt:lpstr>
      <vt:lpstr>三、技术路线与实施方案</vt:lpstr>
      <vt:lpstr>三、技术路线与实施方案</vt:lpstr>
      <vt:lpstr>三、技术路线与实施方案</vt:lpstr>
      <vt:lpstr>三、技术路线与实施方案</vt:lpstr>
      <vt:lpstr>进度管理与预期成果</vt:lpstr>
      <vt:lpstr>四、进度管理与预期成果</vt:lpstr>
      <vt:lpstr>四、进度管理与预期成果</vt:lpstr>
      <vt:lpstr>四、进度管理与预期成果</vt:lpstr>
      <vt:lpstr>四、进度管理与预期成果</vt:lpstr>
      <vt:lpstr>四、进度管理与预期成果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冠吾 潘</dc:creator>
  <cp:lastModifiedBy>冠吾 潘</cp:lastModifiedBy>
  <cp:revision>26</cp:revision>
  <dcterms:created xsi:type="dcterms:W3CDTF">2025-04-26T13:28:43Z</dcterms:created>
  <dcterms:modified xsi:type="dcterms:W3CDTF">2026-03-10T14:26:18Z</dcterms:modified>
</cp:coreProperties>
</file>