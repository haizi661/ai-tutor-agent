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7" r:id="rId3"/>
    <p:sldId id="265" r:id="rId4"/>
    <p:sldId id="279" r:id="rId5"/>
    <p:sldId id="288" r:id="rId6"/>
    <p:sldId id="317" r:id="rId7"/>
    <p:sldId id="309" r:id="rId8"/>
    <p:sldId id="312" r:id="rId9"/>
    <p:sldId id="313" r:id="rId10"/>
    <p:sldId id="314" r:id="rId11"/>
    <p:sldId id="315" r:id="rId12"/>
    <p:sldId id="283" r:id="rId13"/>
    <p:sldId id="304" r:id="rId14"/>
    <p:sldId id="284" r:id="rId15"/>
    <p:sldId id="30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52" y="1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117323-BFFE-4F93-93AB-01DE5301D8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470EE9-2E23-48AA-80CC-5513CF86D09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3717A-5040-40EE-A337-D792C9EC53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54A02-3A37-4901-AB9C-5E7477892CF3}" type="slidenum">
              <a:rPr lang="zh-CN" altLang="en-US" smtClean="0"/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3717A-5040-40EE-A337-D792C9EC53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54A02-3A37-4901-AB9C-5E7477892C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3717A-5040-40EE-A337-D792C9EC53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54A02-3A37-4901-AB9C-5E7477892CF3}" type="slidenum">
              <a:rPr lang="zh-CN" altLang="en-US" smtClean="0"/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3717A-5040-40EE-A337-D792C9EC53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54A02-3A37-4901-AB9C-5E7477892C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3717A-5040-40EE-A337-D792C9EC53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54A02-3A37-4901-AB9C-5E7477892C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3717A-5040-40EE-A337-D792C9EC53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54A02-3A37-4901-AB9C-5E7477892C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3717A-5040-40EE-A337-D792C9EC53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54A02-3A37-4901-AB9C-5E7477892C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8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3" y="6459787"/>
            <a:ext cx="2618511" cy="365125"/>
          </a:xfrm>
        </p:spPr>
        <p:txBody>
          <a:bodyPr/>
          <a:lstStyle>
            <a:lvl1pPr algn="l">
              <a:defRPr/>
            </a:lvl1pPr>
          </a:lstStyle>
          <a:p>
            <a:fld id="{B3A3717A-5040-40EE-A337-D792C9EC53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7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D554A02-3A37-4901-AB9C-5E7477892C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7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3717A-5040-40EE-A337-D792C9EC53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54A02-3A37-4901-AB9C-5E7477892C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3717A-5040-40EE-A337-D792C9EC53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54A02-3A37-4901-AB9C-5E7477892C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14780"/>
            <a:ext cx="2628900" cy="575742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3717A-5040-40EE-A337-D792C9EC53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54A02-3A37-4901-AB9C-5E7477892C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9801" name="副标题 9800"/>
          <p:cNvSpPr>
            <a:spLocks noGrp="1"/>
          </p:cNvSpPr>
          <p:nvPr userDrawn="1">
            <p:ph type="subTitle" idx="1"/>
          </p:nvPr>
        </p:nvSpPr>
        <p:spPr>
          <a:xfrm>
            <a:off x="1041400" y="5633745"/>
            <a:ext cx="7175501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3F82C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9802" name="标题 9801"/>
          <p:cNvSpPr>
            <a:spLocks noGrp="1"/>
          </p:cNvSpPr>
          <p:nvPr userDrawn="1">
            <p:ph type="ctrTitle"/>
          </p:nvPr>
        </p:nvSpPr>
        <p:spPr>
          <a:xfrm>
            <a:off x="1041400" y="3086102"/>
            <a:ext cx="7175501" cy="2237785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rgbClr val="3F82C4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8331201" y="3086102"/>
            <a:ext cx="2565401" cy="245363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  <a:endParaRPr lang="en-US" altLang="zh-CN" dirty="0"/>
          </a:p>
        </p:txBody>
      </p:sp>
      <p:sp>
        <p:nvSpPr>
          <p:cNvPr id="13" name="文本占位符 12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8331201" y="3382371"/>
            <a:ext cx="2565401" cy="245363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1041400" y="5511167"/>
            <a:ext cx="7175501" cy="0"/>
          </a:xfrm>
          <a:prstGeom prst="line">
            <a:avLst/>
          </a:prstGeom>
          <a:ln>
            <a:solidFill>
              <a:srgbClr val="D1E1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 flipH="1">
            <a:off x="-1" y="-1"/>
            <a:ext cx="4804229" cy="6860858"/>
            <a:chOff x="2994636" y="-1"/>
            <a:chExt cx="9197364" cy="6860858"/>
          </a:xfrm>
        </p:grpSpPr>
        <p:sp>
          <p:nvSpPr>
            <p:cNvPr id="7" name="任意多边形: 形状 6"/>
            <p:cNvSpPr/>
            <p:nvPr userDrawn="1"/>
          </p:nvSpPr>
          <p:spPr>
            <a:xfrm>
              <a:off x="5080001" y="0"/>
              <a:ext cx="7111999" cy="6858000"/>
            </a:xfrm>
            <a:custGeom>
              <a:avLst/>
              <a:gdLst>
                <a:gd name="connsiteX0" fmla="*/ 2400300 w 7112000"/>
                <a:gd name="connsiteY0" fmla="*/ 0 h 6858000"/>
                <a:gd name="connsiteX1" fmla="*/ 7112000 w 7112000"/>
                <a:gd name="connsiteY1" fmla="*/ 0 h 6858000"/>
                <a:gd name="connsiteX2" fmla="*/ 7112000 w 7112000"/>
                <a:gd name="connsiteY2" fmla="*/ 2648857 h 6858000"/>
                <a:gd name="connsiteX3" fmla="*/ 5638800 w 7112000"/>
                <a:gd name="connsiteY3" fmla="*/ 6858000 h 6858000"/>
                <a:gd name="connsiteX4" fmla="*/ 0 w 711200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2000" h="6858000">
                  <a:moveTo>
                    <a:pt x="2400300" y="0"/>
                  </a:moveTo>
                  <a:lnTo>
                    <a:pt x="7112000" y="0"/>
                  </a:lnTo>
                  <a:lnTo>
                    <a:pt x="7112000" y="2648857"/>
                  </a:lnTo>
                  <a:lnTo>
                    <a:pt x="5638800" y="6858000"/>
                  </a:lnTo>
                  <a:lnTo>
                    <a:pt x="0" y="6858000"/>
                  </a:lnTo>
                  <a:close/>
                </a:path>
              </a:pathLst>
            </a:custGeom>
            <a:blipFill dpi="0" rotWithShape="1">
              <a:blip r:embed="rId2">
                <a:alphaModFix amt="70000"/>
              </a:blip>
              <a:srcRect/>
              <a:stretch>
                <a:fillRect l="-161907" r="-1500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8" name="平行四边形 7"/>
            <p:cNvSpPr/>
            <p:nvPr userDrawn="1"/>
          </p:nvSpPr>
          <p:spPr>
            <a:xfrm>
              <a:off x="6248008" y="-1"/>
              <a:ext cx="1633775" cy="3439954"/>
            </a:xfrm>
            <a:prstGeom prst="parallelogram">
              <a:avLst>
                <a:gd name="adj" fmla="val 74444"/>
              </a:avLst>
            </a:prstGeom>
            <a:solidFill>
              <a:schemeClr val="bg1"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9" name="平行四边形 8"/>
            <p:cNvSpPr/>
            <p:nvPr userDrawn="1"/>
          </p:nvSpPr>
          <p:spPr>
            <a:xfrm>
              <a:off x="2994636" y="3439953"/>
              <a:ext cx="4170727" cy="3420904"/>
            </a:xfrm>
            <a:prstGeom prst="parallelogram">
              <a:avLst>
                <a:gd name="adj" fmla="val 34946"/>
              </a:avLst>
            </a:prstGeom>
            <a:solidFill>
              <a:schemeClr val="accent5">
                <a:lumMod val="10000"/>
                <a:alpha val="2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10" name="标题 19"/>
          <p:cNvSpPr>
            <a:spLocks noGrp="1"/>
          </p:cNvSpPr>
          <p:nvPr>
            <p:ph type="title"/>
          </p:nvPr>
        </p:nvSpPr>
        <p:spPr>
          <a:xfrm>
            <a:off x="5411346" y="1489066"/>
            <a:ext cx="444213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accent4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1" name="文本占位符 20"/>
          <p:cNvSpPr>
            <a:spLocks noGrp="1"/>
          </p:cNvSpPr>
          <p:nvPr>
            <p:ph type="body" idx="1"/>
          </p:nvPr>
        </p:nvSpPr>
        <p:spPr>
          <a:xfrm>
            <a:off x="5411346" y="2384418"/>
            <a:ext cx="444213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100">
                <a:solidFill>
                  <a:schemeClr val="accent4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 flipH="1">
            <a:off x="-1" y="-1"/>
            <a:ext cx="4804229" cy="6860858"/>
            <a:chOff x="2994636" y="-1"/>
            <a:chExt cx="9197364" cy="6860858"/>
          </a:xfrm>
        </p:grpSpPr>
        <p:sp>
          <p:nvSpPr>
            <p:cNvPr id="7" name="任意多边形: 形状 6"/>
            <p:cNvSpPr/>
            <p:nvPr userDrawn="1"/>
          </p:nvSpPr>
          <p:spPr>
            <a:xfrm>
              <a:off x="5080001" y="0"/>
              <a:ext cx="7111999" cy="6858000"/>
            </a:xfrm>
            <a:custGeom>
              <a:avLst/>
              <a:gdLst>
                <a:gd name="connsiteX0" fmla="*/ 2400300 w 7112000"/>
                <a:gd name="connsiteY0" fmla="*/ 0 h 6858000"/>
                <a:gd name="connsiteX1" fmla="*/ 7112000 w 7112000"/>
                <a:gd name="connsiteY1" fmla="*/ 0 h 6858000"/>
                <a:gd name="connsiteX2" fmla="*/ 7112000 w 7112000"/>
                <a:gd name="connsiteY2" fmla="*/ 2648857 h 6858000"/>
                <a:gd name="connsiteX3" fmla="*/ 5638800 w 7112000"/>
                <a:gd name="connsiteY3" fmla="*/ 6858000 h 6858000"/>
                <a:gd name="connsiteX4" fmla="*/ 0 w 711200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2000" h="6858000">
                  <a:moveTo>
                    <a:pt x="2400300" y="0"/>
                  </a:moveTo>
                  <a:lnTo>
                    <a:pt x="7112000" y="0"/>
                  </a:lnTo>
                  <a:lnTo>
                    <a:pt x="7112000" y="2648857"/>
                  </a:lnTo>
                  <a:lnTo>
                    <a:pt x="5638800" y="6858000"/>
                  </a:lnTo>
                  <a:lnTo>
                    <a:pt x="0" y="6858000"/>
                  </a:lnTo>
                  <a:close/>
                </a:path>
              </a:pathLst>
            </a:custGeom>
            <a:blipFill dpi="0" rotWithShape="1">
              <a:blip r:embed="rId2">
                <a:alphaModFix amt="70000"/>
              </a:blip>
              <a:srcRect/>
              <a:stretch>
                <a:fillRect l="-161907" r="-1500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8" name="平行四边形 7"/>
            <p:cNvSpPr/>
            <p:nvPr userDrawn="1"/>
          </p:nvSpPr>
          <p:spPr>
            <a:xfrm>
              <a:off x="6248008" y="-1"/>
              <a:ext cx="1633775" cy="3439954"/>
            </a:xfrm>
            <a:prstGeom prst="parallelogram">
              <a:avLst>
                <a:gd name="adj" fmla="val 74444"/>
              </a:avLst>
            </a:prstGeom>
            <a:solidFill>
              <a:schemeClr val="bg1"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9" name="平行四边形 8"/>
            <p:cNvSpPr/>
            <p:nvPr userDrawn="1"/>
          </p:nvSpPr>
          <p:spPr>
            <a:xfrm>
              <a:off x="2994636" y="3439953"/>
              <a:ext cx="4170727" cy="3420904"/>
            </a:xfrm>
            <a:prstGeom prst="parallelogram">
              <a:avLst>
                <a:gd name="adj" fmla="val 34946"/>
              </a:avLst>
            </a:prstGeom>
            <a:solidFill>
              <a:schemeClr val="accent5">
                <a:lumMod val="10000"/>
                <a:alpha val="2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10" name="标题 19"/>
          <p:cNvSpPr>
            <a:spLocks noGrp="1"/>
          </p:cNvSpPr>
          <p:nvPr>
            <p:ph type="title"/>
          </p:nvPr>
        </p:nvSpPr>
        <p:spPr>
          <a:xfrm>
            <a:off x="5411346" y="1489066"/>
            <a:ext cx="444213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accent4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1" name="文本占位符 20"/>
          <p:cNvSpPr>
            <a:spLocks noGrp="1"/>
          </p:cNvSpPr>
          <p:nvPr>
            <p:ph type="body" idx="1"/>
          </p:nvPr>
        </p:nvSpPr>
        <p:spPr>
          <a:xfrm>
            <a:off x="5411346" y="2384418"/>
            <a:ext cx="444213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100">
                <a:solidFill>
                  <a:schemeClr val="accent4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 flipH="1">
            <a:off x="-1" y="-1"/>
            <a:ext cx="4804229" cy="6860858"/>
            <a:chOff x="2994636" y="-1"/>
            <a:chExt cx="9197364" cy="6860858"/>
          </a:xfrm>
        </p:grpSpPr>
        <p:sp>
          <p:nvSpPr>
            <p:cNvPr id="7" name="任意多边形: 形状 6"/>
            <p:cNvSpPr/>
            <p:nvPr userDrawn="1"/>
          </p:nvSpPr>
          <p:spPr>
            <a:xfrm>
              <a:off x="5080001" y="0"/>
              <a:ext cx="7111999" cy="6858000"/>
            </a:xfrm>
            <a:custGeom>
              <a:avLst/>
              <a:gdLst>
                <a:gd name="connsiteX0" fmla="*/ 2400300 w 7112000"/>
                <a:gd name="connsiteY0" fmla="*/ 0 h 6858000"/>
                <a:gd name="connsiteX1" fmla="*/ 7112000 w 7112000"/>
                <a:gd name="connsiteY1" fmla="*/ 0 h 6858000"/>
                <a:gd name="connsiteX2" fmla="*/ 7112000 w 7112000"/>
                <a:gd name="connsiteY2" fmla="*/ 2648857 h 6858000"/>
                <a:gd name="connsiteX3" fmla="*/ 5638800 w 7112000"/>
                <a:gd name="connsiteY3" fmla="*/ 6858000 h 6858000"/>
                <a:gd name="connsiteX4" fmla="*/ 0 w 711200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2000" h="6858000">
                  <a:moveTo>
                    <a:pt x="2400300" y="0"/>
                  </a:moveTo>
                  <a:lnTo>
                    <a:pt x="7112000" y="0"/>
                  </a:lnTo>
                  <a:lnTo>
                    <a:pt x="7112000" y="2648857"/>
                  </a:lnTo>
                  <a:lnTo>
                    <a:pt x="5638800" y="6858000"/>
                  </a:lnTo>
                  <a:lnTo>
                    <a:pt x="0" y="6858000"/>
                  </a:lnTo>
                  <a:close/>
                </a:path>
              </a:pathLst>
            </a:custGeom>
            <a:blipFill dpi="0" rotWithShape="1">
              <a:blip r:embed="rId2">
                <a:alphaModFix amt="70000"/>
              </a:blip>
              <a:srcRect/>
              <a:stretch>
                <a:fillRect l="-161907" r="-1500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8" name="平行四边形 7"/>
            <p:cNvSpPr/>
            <p:nvPr userDrawn="1"/>
          </p:nvSpPr>
          <p:spPr>
            <a:xfrm>
              <a:off x="6248008" y="-1"/>
              <a:ext cx="1633775" cy="3439954"/>
            </a:xfrm>
            <a:prstGeom prst="parallelogram">
              <a:avLst>
                <a:gd name="adj" fmla="val 74444"/>
              </a:avLst>
            </a:prstGeom>
            <a:solidFill>
              <a:schemeClr val="bg1"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9" name="平行四边形 8"/>
            <p:cNvSpPr/>
            <p:nvPr userDrawn="1"/>
          </p:nvSpPr>
          <p:spPr>
            <a:xfrm>
              <a:off x="2994636" y="3439953"/>
              <a:ext cx="4170727" cy="3420904"/>
            </a:xfrm>
            <a:prstGeom prst="parallelogram">
              <a:avLst>
                <a:gd name="adj" fmla="val 34946"/>
              </a:avLst>
            </a:prstGeom>
            <a:solidFill>
              <a:schemeClr val="accent5">
                <a:lumMod val="10000"/>
                <a:alpha val="2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10" name="标题 19"/>
          <p:cNvSpPr>
            <a:spLocks noGrp="1"/>
          </p:cNvSpPr>
          <p:nvPr>
            <p:ph type="title"/>
          </p:nvPr>
        </p:nvSpPr>
        <p:spPr>
          <a:xfrm>
            <a:off x="5411346" y="1489066"/>
            <a:ext cx="444213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accent4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1" name="文本占位符 20"/>
          <p:cNvSpPr>
            <a:spLocks noGrp="1"/>
          </p:cNvSpPr>
          <p:nvPr>
            <p:ph type="body" idx="1"/>
          </p:nvPr>
        </p:nvSpPr>
        <p:spPr>
          <a:xfrm>
            <a:off x="5411346" y="2384418"/>
            <a:ext cx="444213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100">
                <a:solidFill>
                  <a:schemeClr val="accent4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 flipH="1">
            <a:off x="-1" y="-1"/>
            <a:ext cx="4804229" cy="6860858"/>
            <a:chOff x="2994636" y="-1"/>
            <a:chExt cx="9197364" cy="6860858"/>
          </a:xfrm>
        </p:grpSpPr>
        <p:sp>
          <p:nvSpPr>
            <p:cNvPr id="7" name="任意多边形: 形状 6"/>
            <p:cNvSpPr/>
            <p:nvPr userDrawn="1"/>
          </p:nvSpPr>
          <p:spPr>
            <a:xfrm>
              <a:off x="5080001" y="0"/>
              <a:ext cx="7111999" cy="6858000"/>
            </a:xfrm>
            <a:custGeom>
              <a:avLst/>
              <a:gdLst>
                <a:gd name="connsiteX0" fmla="*/ 2400300 w 7112000"/>
                <a:gd name="connsiteY0" fmla="*/ 0 h 6858000"/>
                <a:gd name="connsiteX1" fmla="*/ 7112000 w 7112000"/>
                <a:gd name="connsiteY1" fmla="*/ 0 h 6858000"/>
                <a:gd name="connsiteX2" fmla="*/ 7112000 w 7112000"/>
                <a:gd name="connsiteY2" fmla="*/ 2648857 h 6858000"/>
                <a:gd name="connsiteX3" fmla="*/ 5638800 w 7112000"/>
                <a:gd name="connsiteY3" fmla="*/ 6858000 h 6858000"/>
                <a:gd name="connsiteX4" fmla="*/ 0 w 711200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2000" h="6858000">
                  <a:moveTo>
                    <a:pt x="2400300" y="0"/>
                  </a:moveTo>
                  <a:lnTo>
                    <a:pt x="7112000" y="0"/>
                  </a:lnTo>
                  <a:lnTo>
                    <a:pt x="7112000" y="2648857"/>
                  </a:lnTo>
                  <a:lnTo>
                    <a:pt x="5638800" y="6858000"/>
                  </a:lnTo>
                  <a:lnTo>
                    <a:pt x="0" y="6858000"/>
                  </a:lnTo>
                  <a:close/>
                </a:path>
              </a:pathLst>
            </a:custGeom>
            <a:blipFill dpi="0" rotWithShape="1">
              <a:blip r:embed="rId2">
                <a:alphaModFix amt="70000"/>
              </a:blip>
              <a:srcRect/>
              <a:stretch>
                <a:fillRect l="-161907" r="-1500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8" name="平行四边形 7"/>
            <p:cNvSpPr/>
            <p:nvPr userDrawn="1"/>
          </p:nvSpPr>
          <p:spPr>
            <a:xfrm>
              <a:off x="6248008" y="-1"/>
              <a:ext cx="1633775" cy="3439954"/>
            </a:xfrm>
            <a:prstGeom prst="parallelogram">
              <a:avLst>
                <a:gd name="adj" fmla="val 74444"/>
              </a:avLst>
            </a:prstGeom>
            <a:solidFill>
              <a:schemeClr val="bg1"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9" name="平行四边形 8"/>
            <p:cNvSpPr/>
            <p:nvPr userDrawn="1"/>
          </p:nvSpPr>
          <p:spPr>
            <a:xfrm>
              <a:off x="2994636" y="3439953"/>
              <a:ext cx="4170727" cy="3420904"/>
            </a:xfrm>
            <a:prstGeom prst="parallelogram">
              <a:avLst>
                <a:gd name="adj" fmla="val 34946"/>
              </a:avLst>
            </a:prstGeom>
            <a:solidFill>
              <a:schemeClr val="accent5">
                <a:lumMod val="10000"/>
                <a:alpha val="2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10" name="标题 19"/>
          <p:cNvSpPr>
            <a:spLocks noGrp="1"/>
          </p:cNvSpPr>
          <p:nvPr>
            <p:ph type="title"/>
          </p:nvPr>
        </p:nvSpPr>
        <p:spPr>
          <a:xfrm>
            <a:off x="5411346" y="1489066"/>
            <a:ext cx="444213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accent4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1" name="文本占位符 20"/>
          <p:cNvSpPr>
            <a:spLocks noGrp="1"/>
          </p:cNvSpPr>
          <p:nvPr>
            <p:ph type="body" idx="1"/>
          </p:nvPr>
        </p:nvSpPr>
        <p:spPr>
          <a:xfrm>
            <a:off x="5411346" y="2384418"/>
            <a:ext cx="444213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100">
                <a:solidFill>
                  <a:schemeClr val="accent4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3A3717A-5040-40EE-A337-D792C9EC53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D554A02-3A37-4901-AB9C-5E7477892CF3}" type="slidenum">
              <a:rPr lang="zh-CN" altLang="en-US" smtClean="0"/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.emf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think-cell Slide" r:id="rId1" imgW="9525" imgH="9525" progId="TCLayout.ActiveDocument.1">
                  <p:embed/>
                </p:oleObj>
              </mc:Choice>
              <mc:Fallback>
                <p:oleObj name="think-cell Slide" r:id="rId1" imgW="9525" imgH="9525" progId="TCLayout.ActiveDocument.1">
                  <p:embed/>
                  <p:pic>
                    <p:nvPicPr>
                      <p:cNvPr id="0" name="对象 2" hidden="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/>
          <p:cNvSpPr/>
          <p:nvPr/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977898" y="3204553"/>
            <a:ext cx="7175501" cy="2237785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zh-CN" altLang="en-US" sz="4800" b="1" dirty="0">
                <a:latin typeface="等线 Light" panose="02010600030101010101" pitchFamily="2" charset="-122"/>
                <a:ea typeface="等线 Light" panose="02010600030101010101" pitchFamily="2" charset="-122"/>
                <a:cs typeface="Roboto" panose="02000000000000000000" pitchFamily="2" charset="0"/>
              </a:rPr>
              <a:t>“伴学智能体”设计</a:t>
            </a:r>
            <a:br>
              <a:rPr lang="en-US" altLang="zh-CN" sz="4800" dirty="0">
                <a:latin typeface="等线 Light" panose="02010600030101010101" pitchFamily="2" charset="-122"/>
                <a:ea typeface="等线 Light" panose="02010600030101010101" pitchFamily="2" charset="-122"/>
                <a:cs typeface="Roboto" panose="02000000000000000000" pitchFamily="2" charset="0"/>
              </a:rPr>
            </a:br>
            <a:br>
              <a:rPr lang="en-US" altLang="zh-CN" sz="4400" dirty="0">
                <a:latin typeface="等线 Light" panose="02010600030101010101" pitchFamily="2" charset="-122"/>
                <a:ea typeface="等线 Light" panose="02010600030101010101" pitchFamily="2" charset="-122"/>
                <a:cs typeface="Roboto" panose="02000000000000000000" pitchFamily="2" charset="0"/>
              </a:rPr>
            </a:br>
            <a:r>
              <a:rPr lang="en-US" altLang="zh-CN" sz="4400" dirty="0">
                <a:latin typeface="等线 Light" panose="02010600030101010101" pitchFamily="2" charset="-122"/>
                <a:ea typeface="等线 Light" panose="02010600030101010101" pitchFamily="2" charset="-122"/>
                <a:cs typeface="Roboto" panose="02000000000000000000" pitchFamily="2" charset="0"/>
              </a:rPr>
              <a:t>                           </a:t>
            </a:r>
            <a:r>
              <a:rPr lang="en-US" altLang="zh-C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——</a:t>
            </a:r>
            <a:r>
              <a:rPr lang="zh-CN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第</a:t>
            </a:r>
            <a:r>
              <a:rPr lang="zh-CN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三周汇报</a:t>
            </a:r>
            <a:endParaRPr lang="zh-CN" altLang="en-US" sz="4400" b="1" dirty="0">
              <a:solidFill>
                <a:schemeClr val="tx1">
                  <a:lumMod val="95000"/>
                  <a:lumOff val="5000"/>
                </a:schemeClr>
              </a:solidFill>
              <a:latin typeface="等线 Light" panose="02010600030101010101" pitchFamily="2" charset="-122"/>
              <a:ea typeface="等线 Light" panose="02010600030101010101" pitchFamily="2" charset="-122"/>
              <a:cs typeface="Roboto" panose="02000000000000000000" pitchFamily="2" charset="0"/>
            </a:endParaRPr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155698" y="5700650"/>
            <a:ext cx="7175501" cy="558799"/>
          </a:xfrm>
        </p:spPr>
        <p:txBody>
          <a:bodyPr>
            <a:normAutofit/>
          </a:bodyPr>
          <a:lstStyle/>
          <a:p>
            <a:r>
              <a:rPr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PPT</a:t>
            </a: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制作、汇报：</a:t>
            </a: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杨晓洁</a:t>
            </a:r>
            <a:endParaRPr lang="zh-CN" altLang="en-U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副标题 8"/>
          <p:cNvSpPr txBox="1"/>
          <p:nvPr/>
        </p:nvSpPr>
        <p:spPr>
          <a:xfrm>
            <a:off x="1155698" y="6056249"/>
            <a:ext cx="7175501" cy="558799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1600" kern="1200">
                <a:solidFill>
                  <a:srgbClr val="3F82C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小组成员：朱海、</a:t>
            </a: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潘冠吾</a:t>
            </a: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、唐嘉阳、杨晓洁</a:t>
            </a:r>
            <a:endParaRPr lang="zh-CN" altLang="en-U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099776" y="1577044"/>
            <a:ext cx="6307525" cy="4338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主要分为以下</a:t>
            </a:r>
            <a:r>
              <a:rPr lang="zh-CN" altLang="en-US" sz="3200" dirty="0"/>
              <a:t>三个部分：</a:t>
            </a:r>
            <a:endParaRPr lang="en-US" altLang="zh-CN" sz="3200" dirty="0"/>
          </a:p>
          <a:p>
            <a:endParaRPr lang="en-US" altLang="zh-CN" sz="2800" dirty="0"/>
          </a:p>
          <a:p>
            <a:r>
              <a:rPr lang="zh-CN" altLang="en-US" sz="2400" dirty="0"/>
              <a:t>一、本周</a:t>
            </a:r>
            <a:r>
              <a:rPr lang="zh-CN" altLang="en-US" sz="2400" dirty="0"/>
              <a:t>已完成工作</a:t>
            </a:r>
            <a:endParaRPr lang="en-US" altLang="zh-CN" sz="2400" dirty="0"/>
          </a:p>
          <a:p>
            <a:endParaRPr lang="en-US" altLang="zh-CN" sz="2400" dirty="0">
              <a:latin typeface="+mj-lt"/>
            </a:endParaRPr>
          </a:p>
          <a:p>
            <a:r>
              <a:rPr lang="zh-CN" altLang="en-US" sz="2400" dirty="0"/>
              <a:t>二、</a:t>
            </a:r>
            <a:r>
              <a:rPr lang="zh-CN" altLang="en-US" sz="2400" dirty="0">
                <a:sym typeface="+mn-ea"/>
              </a:rPr>
              <a:t>计划</a:t>
            </a:r>
            <a:r>
              <a:rPr lang="zh-CN" altLang="en-US" sz="2400" dirty="0">
                <a:sym typeface="+mn-ea"/>
              </a:rPr>
              <a:t>偏差分析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三、下周计划展望</a:t>
            </a:r>
            <a:endParaRPr lang="zh-CN" altLang="en-US" sz="2400" dirty="0"/>
          </a:p>
          <a:p>
            <a:endParaRPr lang="zh-CN" altLang="en-US" sz="2400" dirty="0"/>
          </a:p>
          <a:p>
            <a:r>
              <a:rPr lang="zh-CN" altLang="en-US" sz="2400" dirty="0"/>
              <a:t>四、</a:t>
            </a:r>
            <a:r>
              <a:rPr lang="zh-CN" altLang="en-US" sz="2400" dirty="0"/>
              <a:t>第三周周报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 </a:t>
            </a:r>
            <a:endParaRPr lang="zh-CN" altLang="en-US" sz="2800" dirty="0"/>
          </a:p>
        </p:txBody>
      </p:sp>
      <p:pic>
        <p:nvPicPr>
          <p:cNvPr id="5122" name="Picture 2" descr="有哪些好看的PPT目录？ - 知乎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147"/>
          <a:stretch>
            <a:fillRect/>
          </a:stretch>
        </p:blipFill>
        <p:spPr bwMode="auto">
          <a:xfrm>
            <a:off x="-1" y="1"/>
            <a:ext cx="5099775" cy="6334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5484988" y="2129518"/>
            <a:ext cx="5494162" cy="895350"/>
          </a:xfrm>
        </p:spPr>
        <p:txBody>
          <a:bodyPr>
            <a:normAutofit/>
          </a:bodyPr>
          <a:lstStyle/>
          <a:p>
            <a:r>
              <a:rPr lang="zh-CN" altLang="en-US" sz="4400" dirty="0">
                <a:sym typeface="+mn-ea"/>
              </a:rPr>
              <a:t>本周已完成工作</a:t>
            </a:r>
            <a:endParaRPr lang="en-US" altLang="zh-CN" sz="4400" dirty="0"/>
          </a:p>
        </p:txBody>
      </p:sp>
      <p:sp>
        <p:nvSpPr>
          <p:cNvPr id="9" name="文本框 8"/>
          <p:cNvSpPr txBox="1"/>
          <p:nvPr/>
        </p:nvSpPr>
        <p:spPr>
          <a:xfrm>
            <a:off x="4025988" y="2009247"/>
            <a:ext cx="1168104" cy="1015623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6"/>
                </a:solidFill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/01</a:t>
            </a:r>
            <a:endParaRPr lang="zh-CN" altLang="en-US" spc="100" dirty="0">
              <a:solidFill>
                <a:schemeClr val="accent6"/>
              </a:solidFill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63227" y="229839"/>
            <a:ext cx="4282732" cy="782638"/>
          </a:xfrm>
        </p:spPr>
        <p:txBody>
          <a:bodyPr>
            <a:normAutofit/>
          </a:bodyPr>
          <a:lstStyle/>
          <a:p>
            <a:r>
              <a:rPr lang="zh-CN" altLang="en-US" sz="3200" b="1" dirty="0" err="1">
                <a:sym typeface="+mn-ea"/>
              </a:rPr>
              <a:t>本周工作完成</a:t>
            </a:r>
            <a:r>
              <a:rPr lang="zh-CN" altLang="en-US" sz="3200" b="1" dirty="0" err="1">
                <a:sym typeface="+mn-ea"/>
              </a:rPr>
              <a:t>情况</a:t>
            </a:r>
            <a:endParaRPr lang="zh-CN" altLang="en-US" sz="3200" b="1" dirty="0" err="1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070" y="1527810"/>
            <a:ext cx="10892155" cy="3653790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63227" y="229839"/>
            <a:ext cx="4282732" cy="782638"/>
          </a:xfrm>
        </p:spPr>
        <p:txBody>
          <a:bodyPr>
            <a:normAutofit/>
          </a:bodyPr>
          <a:lstStyle/>
          <a:p>
            <a:r>
              <a:rPr lang="en-US" altLang="zh-CN" sz="3200" b="1" dirty="0" err="1">
                <a:sym typeface="+mn-ea"/>
              </a:rPr>
              <a:t>LangGraph</a:t>
            </a:r>
            <a:r>
              <a:rPr lang="zh-CN" altLang="en-US" sz="3200" dirty="0"/>
              <a:t>环境</a:t>
            </a:r>
            <a:r>
              <a:rPr lang="zh-CN" altLang="en-US" sz="3200" dirty="0"/>
              <a:t>搭建</a:t>
            </a:r>
            <a:endParaRPr lang="zh-CN" altLang="en-US" sz="3200" dirty="0"/>
          </a:p>
        </p:txBody>
      </p:sp>
      <p:sp>
        <p:nvSpPr>
          <p:cNvPr id="4" name="文本框 3"/>
          <p:cNvSpPr txBox="1"/>
          <p:nvPr/>
        </p:nvSpPr>
        <p:spPr>
          <a:xfrm>
            <a:off x="481965" y="1252271"/>
            <a:ext cx="1070229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工作特点：</a:t>
            </a:r>
            <a:endParaRPr lang="zh-CN" altLang="en-US" sz="2400" b="1" dirty="0"/>
          </a:p>
          <a:p>
            <a:r>
              <a:rPr lang="zh-CN" altLang="en-US" sz="2400" dirty="0"/>
              <a:t>通过</a:t>
            </a:r>
            <a:r>
              <a:rPr lang="zh-CN" altLang="en-US" sz="2400" b="1" dirty="0"/>
              <a:t>节点（</a:t>
            </a:r>
            <a:r>
              <a:rPr lang="en-US" altLang="zh-CN" sz="2400" b="1" dirty="0"/>
              <a:t>Nodes</a:t>
            </a:r>
            <a:r>
              <a:rPr lang="zh-CN" altLang="en-US" sz="2400" b="1" dirty="0"/>
              <a:t>）</a:t>
            </a:r>
            <a:r>
              <a:rPr lang="zh-CN" altLang="en-US" sz="2400" dirty="0"/>
              <a:t>执行具体任务（如调用模型或工具），利用</a:t>
            </a:r>
            <a:r>
              <a:rPr lang="zh-CN" altLang="en-US" sz="2400" b="1" dirty="0"/>
              <a:t>边（</a:t>
            </a:r>
            <a:r>
              <a:rPr lang="en-US" altLang="zh-CN" sz="2400" b="1" dirty="0"/>
              <a:t>Edges</a:t>
            </a:r>
            <a:r>
              <a:rPr lang="zh-CN" altLang="en-US" sz="2400" b="1" dirty="0"/>
              <a:t>）</a:t>
            </a:r>
            <a:r>
              <a:rPr lang="zh-CN" altLang="en-US" sz="2400" dirty="0"/>
              <a:t>定义动态控制流与条件分支，并依托共享的全局</a:t>
            </a:r>
            <a:r>
              <a:rPr lang="zh-CN" altLang="en-US" sz="2400" b="1" dirty="0"/>
              <a:t>状态（</a:t>
            </a:r>
            <a:r>
              <a:rPr lang="en-US" altLang="zh-CN" sz="2400" b="1" dirty="0"/>
              <a:t>State</a:t>
            </a:r>
            <a:r>
              <a:rPr lang="zh-CN" altLang="en-US" sz="2400" b="1" dirty="0"/>
              <a:t>）</a:t>
            </a:r>
            <a:r>
              <a:rPr lang="zh-CN" altLang="en-US" sz="2400" dirty="0"/>
              <a:t>实现节点间的信息传递与多轮记忆。</a:t>
            </a:r>
            <a:endParaRPr lang="zh-CN" altLang="en-US" sz="2400" dirty="0"/>
          </a:p>
          <a:p>
            <a:endParaRPr lang="zh-CN" altLang="en-US" sz="2400" dirty="0"/>
          </a:p>
          <a:p>
            <a:r>
              <a:rPr lang="zh-CN" altLang="en-US" sz="2400" b="1" dirty="0"/>
              <a:t>三大优势：</a:t>
            </a:r>
            <a:endParaRPr lang="zh-CN" altLang="en-US" sz="2400" b="1" dirty="0"/>
          </a:p>
          <a:p>
            <a:r>
              <a:rPr lang="en-US" altLang="zh-CN" sz="2400" dirty="0"/>
              <a:t>1</a:t>
            </a:r>
            <a:r>
              <a:rPr lang="zh-CN" altLang="en-US" sz="2400" dirty="0"/>
              <a:t>、它原生支持复杂循环与回溯，允许</a:t>
            </a:r>
            <a:r>
              <a:rPr lang="en-US" altLang="zh-CN" sz="2400" dirty="0"/>
              <a:t> Agent </a:t>
            </a:r>
            <a:r>
              <a:rPr lang="zh-CN" altLang="en-US" sz="2400" dirty="0"/>
              <a:t>在</a:t>
            </a:r>
            <a:r>
              <a:rPr lang="en-US" altLang="zh-CN" sz="2400" dirty="0"/>
              <a:t>“</a:t>
            </a:r>
            <a:r>
              <a:rPr lang="zh-CN" altLang="en-US" sz="2400" dirty="0"/>
              <a:t>思考</a:t>
            </a:r>
            <a:r>
              <a:rPr lang="en-US" altLang="zh-CN" sz="2400" dirty="0"/>
              <a:t> - </a:t>
            </a:r>
            <a:r>
              <a:rPr lang="zh-CN" altLang="en-US" sz="2400" dirty="0"/>
              <a:t>行动</a:t>
            </a:r>
            <a:r>
              <a:rPr lang="en-US" altLang="zh-CN" sz="2400" dirty="0"/>
              <a:t>”</a:t>
            </a:r>
            <a:r>
              <a:rPr lang="zh-CN" altLang="en-US" sz="2400" dirty="0"/>
              <a:t>迭代中自动纠错，避免死循环；</a:t>
            </a:r>
            <a:endParaRPr lang="zh-CN" altLang="en-US" sz="2400" dirty="0"/>
          </a:p>
          <a:p>
            <a:r>
              <a:rPr lang="en-US" altLang="zh-CN" sz="2400" dirty="0"/>
              <a:t>2</a:t>
            </a:r>
            <a:r>
              <a:rPr lang="zh-CN" altLang="en-US" sz="2400" dirty="0"/>
              <a:t>、内置的</a:t>
            </a:r>
            <a:r>
              <a:rPr lang="zh-CN" altLang="en-US" sz="2400" b="1" dirty="0"/>
              <a:t>检查点（</a:t>
            </a:r>
            <a:r>
              <a:rPr lang="en-US" altLang="zh-CN" sz="2400" b="1" dirty="0"/>
              <a:t>Checkpointers</a:t>
            </a:r>
            <a:r>
              <a:rPr lang="zh-CN" altLang="en-US" sz="2400" b="1" dirty="0"/>
              <a:t>）</a:t>
            </a:r>
            <a:r>
              <a:rPr lang="zh-CN" altLang="en-US" sz="2400" dirty="0"/>
              <a:t>机制提供强大的持久化能力，支持长周期任务的断点续传与状态恢复；</a:t>
            </a:r>
            <a:endParaRPr lang="zh-CN" altLang="en-US" sz="2400" dirty="0"/>
          </a:p>
          <a:p>
            <a:r>
              <a:rPr lang="en-US" altLang="zh-CN" sz="2400" dirty="0"/>
              <a:t>3</a:t>
            </a:r>
            <a:r>
              <a:rPr lang="zh-CN" altLang="en-US" sz="2400" dirty="0"/>
              <a:t>、它轻松赋能多智能体协作，让不同角色的</a:t>
            </a:r>
            <a:r>
              <a:rPr lang="en-US" altLang="zh-CN" sz="2400" dirty="0"/>
              <a:t> Agent </a:t>
            </a:r>
            <a:r>
              <a:rPr lang="zh-CN" altLang="en-US" sz="2400" dirty="0"/>
              <a:t>共享状态空间并高效交接任务。</a:t>
            </a:r>
            <a:endParaRPr lang="zh-CN" altLang="en-US" sz="2400" dirty="0"/>
          </a:p>
        </p:txBody>
      </p:sp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63227" y="229839"/>
            <a:ext cx="4282732" cy="782638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详细计划</a:t>
            </a:r>
            <a:r>
              <a:rPr lang="zh-CN" altLang="en-US" sz="3200" dirty="0"/>
              <a:t>完善</a:t>
            </a:r>
            <a:endParaRPr lang="zh-CN" altLang="en-US" sz="3200" dirty="0"/>
          </a:p>
        </p:txBody>
      </p:sp>
      <p:sp>
        <p:nvSpPr>
          <p:cNvPr id="4" name="文本框 3"/>
          <p:cNvSpPr txBox="1"/>
          <p:nvPr/>
        </p:nvSpPr>
        <p:spPr>
          <a:xfrm>
            <a:off x="481965" y="1252271"/>
            <a:ext cx="10702290" cy="4892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项目</a:t>
            </a:r>
            <a:r>
              <a:rPr lang="zh-CN" altLang="en-US" sz="2400" b="1" dirty="0"/>
              <a:t>设计计划：</a:t>
            </a:r>
            <a:endParaRPr lang="en-US" altLang="zh-CN" sz="2400" b="1" dirty="0"/>
          </a:p>
          <a:p>
            <a:r>
              <a:rPr lang="en-US" altLang="zh-CN" sz="2400" b="1" dirty="0"/>
              <a:t>1</a:t>
            </a:r>
            <a:r>
              <a:rPr lang="zh-CN" altLang="en-US" sz="2400" b="1" dirty="0"/>
              <a:t>、节点</a:t>
            </a:r>
            <a:r>
              <a:rPr lang="en-US" altLang="zh-CN" sz="2400" b="1" dirty="0"/>
              <a:t> (Nodes)</a:t>
            </a:r>
            <a:r>
              <a:rPr lang="zh-CN" altLang="en-US" sz="2400" b="1" dirty="0"/>
              <a:t>：</a:t>
            </a:r>
            <a:r>
              <a:rPr lang="zh-CN" altLang="en-US" sz="2400" dirty="0"/>
              <a:t>职责单一的业务执行单元。：有</a:t>
            </a:r>
            <a:r>
              <a:rPr lang="en-US" altLang="zh-CN" sz="2400" dirty="0"/>
              <a:t>tutor (</a:t>
            </a:r>
            <a:r>
              <a:rPr lang="zh-CN" altLang="en-US" sz="2400" dirty="0"/>
              <a:t>讲师节点</a:t>
            </a:r>
            <a:r>
              <a:rPr lang="en-US" altLang="zh-CN" sz="2400" dirty="0"/>
              <a:t>)</a:t>
            </a:r>
            <a:r>
              <a:rPr lang="zh-CN" altLang="en-US" sz="2400" dirty="0"/>
              <a:t>、</a:t>
            </a:r>
            <a:r>
              <a:rPr lang="en-US" altLang="zh-CN" sz="2400" dirty="0"/>
              <a:t>tester (</a:t>
            </a:r>
            <a:r>
              <a:rPr lang="zh-CN" altLang="en-US" sz="2400" dirty="0"/>
              <a:t>考官节点</a:t>
            </a:r>
            <a:r>
              <a:rPr lang="en-US" altLang="zh-CN" sz="2400" dirty="0"/>
              <a:t>)</a:t>
            </a:r>
            <a:r>
              <a:rPr lang="zh-CN" altLang="en-US" sz="2400" dirty="0"/>
              <a:t>、</a:t>
            </a:r>
            <a:r>
              <a:rPr lang="en-US" altLang="zh-CN" sz="2400" dirty="0"/>
              <a:t>evaluator (</a:t>
            </a:r>
            <a:r>
              <a:rPr lang="zh-CN" altLang="en-US" sz="2400" dirty="0"/>
              <a:t>评估节点</a:t>
            </a:r>
            <a:r>
              <a:rPr lang="en-US" altLang="zh-CN" sz="2400" dirty="0"/>
              <a:t>)</a:t>
            </a:r>
            <a:endParaRPr lang="en-US" altLang="zh-CN" sz="2400" dirty="0"/>
          </a:p>
          <a:p>
            <a:r>
              <a:rPr lang="en-US" altLang="zh-CN" sz="2400" b="1" dirty="0"/>
              <a:t>2</a:t>
            </a:r>
            <a:r>
              <a:rPr lang="zh-CN" altLang="en-US" sz="2400" b="1" dirty="0"/>
              <a:t>、边</a:t>
            </a:r>
            <a:r>
              <a:rPr lang="en-US" altLang="zh-CN" sz="2400" b="1" dirty="0"/>
              <a:t> (Edges)</a:t>
            </a:r>
            <a:r>
              <a:rPr lang="zh-CN" altLang="en-US" sz="2400" b="1" dirty="0"/>
              <a:t>：</a:t>
            </a:r>
            <a:r>
              <a:rPr lang="zh-CN" altLang="en-US" sz="2400" dirty="0"/>
              <a:t>条件分支</a:t>
            </a:r>
            <a:r>
              <a:rPr lang="en-US" altLang="zh-CN" sz="2400" dirty="0"/>
              <a:t> (Conditional Edges)</a:t>
            </a:r>
            <a:r>
              <a:rPr lang="zh-CN" altLang="en-US" sz="2400" dirty="0"/>
              <a:t>：</a:t>
            </a:r>
            <a:r>
              <a:rPr lang="en-US" altLang="zh-CN" sz="2400" dirty="0"/>
              <a:t>evaluator </a:t>
            </a:r>
            <a:r>
              <a:rPr lang="zh-CN" altLang="en-US" sz="2400" dirty="0"/>
              <a:t>节点执行完毕后，并不会固定走向下一个节点，而是根据评分结果动态决定：</a:t>
            </a:r>
            <a:endParaRPr lang="zh-CN" altLang="en-US" sz="2400" dirty="0"/>
          </a:p>
          <a:p>
            <a:r>
              <a:rPr lang="en-US" altLang="zh-CN" sz="2400" dirty="0"/>
              <a:t>Pass</a:t>
            </a:r>
            <a:r>
              <a:rPr lang="zh-CN" altLang="en-US" sz="2400" dirty="0"/>
              <a:t>：如果分数达标，路由到下一个知识点或结束会话</a:t>
            </a:r>
            <a:r>
              <a:rPr lang="en-US" altLang="zh-CN" sz="2400" dirty="0"/>
              <a:t> </a:t>
            </a:r>
            <a:r>
              <a:rPr lang="zh-CN" sz="2400" dirty="0"/>
              <a:t>；</a:t>
            </a:r>
            <a:r>
              <a:rPr lang="en-US" altLang="zh-CN" sz="2400" dirty="0"/>
              <a:t>Fail </a:t>
            </a:r>
            <a:r>
              <a:rPr lang="zh-CN" altLang="en-US" sz="2400" dirty="0"/>
              <a:t>：如果分数未达标，路由回</a:t>
            </a:r>
            <a:r>
              <a:rPr lang="en-US" altLang="zh-CN" sz="2400" dirty="0"/>
              <a:t> tutor </a:t>
            </a:r>
            <a:r>
              <a:rPr lang="zh-CN" altLang="en-US" sz="2400" dirty="0"/>
              <a:t>节点进行针对性补习或</a:t>
            </a:r>
            <a:r>
              <a:rPr lang="en-US" altLang="zh-CN" sz="2400" dirty="0"/>
              <a:t> tester </a:t>
            </a:r>
            <a:r>
              <a:rPr lang="zh-CN" altLang="en-US" sz="2400" dirty="0"/>
              <a:t>节点重新出题</a:t>
            </a:r>
            <a:r>
              <a:rPr lang="zh-CN" sz="2400" dirty="0"/>
              <a:t>。</a:t>
            </a:r>
            <a:endParaRPr lang="zh-CN" sz="2400" dirty="0"/>
          </a:p>
          <a:p>
            <a:r>
              <a:rPr lang="en-US" altLang="zh-CN" sz="2400" b="1" dirty="0"/>
              <a:t>3</a:t>
            </a:r>
            <a:r>
              <a:rPr lang="zh-CN" altLang="en-US" sz="2400" b="1" dirty="0"/>
              <a:t>、状态</a:t>
            </a:r>
            <a:r>
              <a:rPr lang="en-US" altLang="zh-CN" sz="2400" b="1" dirty="0"/>
              <a:t> (State)</a:t>
            </a:r>
            <a:r>
              <a:rPr lang="zh-CN" altLang="en-US" sz="2400" b="1" dirty="0"/>
              <a:t>：</a:t>
            </a:r>
            <a:r>
              <a:rPr lang="zh-CN" altLang="en-US" sz="2400" dirty="0"/>
              <a:t>全局共享的</a:t>
            </a:r>
            <a:r>
              <a:rPr lang="zh-CN" altLang="en-US" sz="2400" dirty="0"/>
              <a:t>实时记忆中枢。每经过一个节点（</a:t>
            </a:r>
            <a:r>
              <a:rPr lang="en-US" altLang="zh-CN" sz="2400" dirty="0"/>
              <a:t>Node</a:t>
            </a:r>
            <a:r>
              <a:rPr lang="zh-CN" altLang="en-US" sz="2400" dirty="0"/>
              <a:t>），</a:t>
            </a:r>
            <a:r>
              <a:rPr lang="en-US" altLang="zh-CN" sz="2400" dirty="0"/>
              <a:t>State </a:t>
            </a:r>
            <a:r>
              <a:rPr lang="zh-CN" altLang="en-US" sz="2400" dirty="0"/>
              <a:t>就被更新一次，一旦程序运行结束或服务器重启，内存里的</a:t>
            </a:r>
            <a:r>
              <a:rPr lang="en-US" altLang="zh-CN" sz="2400" dirty="0"/>
              <a:t> State </a:t>
            </a:r>
            <a:r>
              <a:rPr lang="zh-CN" altLang="en-US" sz="2400" dirty="0"/>
              <a:t>就会瞬间消失。是构建上下文的关键</a:t>
            </a:r>
            <a:endParaRPr lang="zh-CN" altLang="en-US" sz="2400" dirty="0"/>
          </a:p>
          <a:p>
            <a:r>
              <a:rPr lang="en-US" altLang="zh-CN" sz="2400" b="1" dirty="0"/>
              <a:t>4. </a:t>
            </a:r>
            <a:r>
              <a:rPr lang="zh-CN" altLang="en-US" sz="2400" b="1" dirty="0"/>
              <a:t>检查点</a:t>
            </a:r>
            <a:r>
              <a:rPr lang="en-US" altLang="zh-CN" sz="2400" b="1" dirty="0"/>
              <a:t> (Checkpointers)</a:t>
            </a:r>
            <a:r>
              <a:rPr lang="zh-CN" altLang="en-US" sz="2400" b="1" dirty="0"/>
              <a:t>：</a:t>
            </a:r>
            <a:r>
              <a:rPr lang="zh-CN" altLang="en-US" sz="2400" dirty="0"/>
              <a:t>持久化存储与断点续传。</a:t>
            </a:r>
            <a:r>
              <a:rPr lang="en-US" altLang="zh-CN" sz="2400" dirty="0"/>
              <a:t>SQLite </a:t>
            </a:r>
            <a:r>
              <a:rPr lang="zh-CN" altLang="en-US" sz="2400" dirty="0"/>
              <a:t>后端将</a:t>
            </a:r>
            <a:r>
              <a:rPr lang="en-US" altLang="zh-CN" sz="2400" dirty="0"/>
              <a:t> LangGraph </a:t>
            </a:r>
            <a:r>
              <a:rPr lang="zh-CN" altLang="en-US" sz="2400" dirty="0"/>
              <a:t>的运行</a:t>
            </a:r>
            <a:r>
              <a:rPr lang="zh-CN" altLang="en-US" sz="2400" dirty="0"/>
              <a:t>数据序列化并保存到本地</a:t>
            </a:r>
            <a:r>
              <a:rPr lang="en-US" altLang="zh-CN" sz="2400" dirty="0"/>
              <a:t> .sqlite </a:t>
            </a:r>
            <a:r>
              <a:rPr lang="zh-CN" altLang="en-US" sz="2400" dirty="0"/>
              <a:t>文件中；当学生再次连接时，系统可以通过</a:t>
            </a:r>
            <a:r>
              <a:rPr lang="en-US" altLang="zh-CN" sz="2400" dirty="0"/>
              <a:t>ID</a:t>
            </a:r>
            <a:r>
              <a:rPr lang="zh-CN" altLang="en-US" sz="2400" dirty="0"/>
              <a:t>从数据库中加载最后一次的状态，实现</a:t>
            </a:r>
            <a:r>
              <a:rPr lang="zh-CN" altLang="en-US" sz="2400" dirty="0">
                <a:sym typeface="+mn-ea"/>
              </a:rPr>
              <a:t>断点续传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</p:spTree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63227" y="229839"/>
            <a:ext cx="4282732" cy="782638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详细计划</a:t>
            </a:r>
            <a:r>
              <a:rPr lang="zh-CN" altLang="en-US" sz="3200" dirty="0"/>
              <a:t>完善</a:t>
            </a:r>
            <a:endParaRPr lang="zh-CN" altLang="en-US" sz="3200" dirty="0"/>
          </a:p>
        </p:txBody>
      </p:sp>
      <p:sp>
        <p:nvSpPr>
          <p:cNvPr id="4" name="文本框 3"/>
          <p:cNvSpPr txBox="1"/>
          <p:nvPr/>
        </p:nvSpPr>
        <p:spPr>
          <a:xfrm>
            <a:off x="481965" y="1252271"/>
            <a:ext cx="1070229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学前测评与用户画像功能：</a:t>
            </a:r>
            <a:endParaRPr lang="zh-CN" altLang="en-US" sz="2400" b="1" dirty="0"/>
          </a:p>
          <a:p>
            <a:r>
              <a:rPr lang="en-US" altLang="zh-CN" sz="2400" b="1" dirty="0"/>
              <a:t>1</a:t>
            </a:r>
            <a:r>
              <a:rPr lang="zh-CN" altLang="en-US" sz="2400" b="1" dirty="0"/>
              <a:t>、多重测评维度：包含对知识点掌握程度的自我评价和客观评判，</a:t>
            </a:r>
            <a:r>
              <a:rPr lang="zh-CN" altLang="en-US" sz="2400" dirty="0">
                <a:sym typeface="+mn-ea"/>
              </a:rPr>
              <a:t>引入客观评分器</a:t>
            </a:r>
            <a:r>
              <a:rPr lang="en-US" altLang="zh-CN" sz="2400" dirty="0">
                <a:sym typeface="+mn-ea"/>
              </a:rPr>
              <a:t>assessment_evaluator</a:t>
            </a:r>
            <a:r>
              <a:rPr lang="zh-CN" altLang="en-US" sz="2400" dirty="0">
                <a:sym typeface="+mn-ea"/>
              </a:rPr>
              <a:t>进行标准答案校验，对两种评判方式的差异进行分析增强</a:t>
            </a:r>
            <a:r>
              <a:rPr lang="zh-CN" sz="2400" dirty="0">
                <a:sym typeface="+mn-ea"/>
              </a:rPr>
              <a:t>，</a:t>
            </a:r>
            <a:r>
              <a:rPr lang="zh-CN" altLang="en-US" sz="2400" dirty="0">
                <a:sym typeface="+mn-ea"/>
              </a:rPr>
              <a:t>若自评高但实考低，标记为</a:t>
            </a:r>
            <a:r>
              <a:rPr lang="en-US" altLang="zh-CN" sz="2400" dirty="0">
                <a:sym typeface="+mn-ea"/>
              </a:rPr>
              <a:t>“</a:t>
            </a:r>
            <a:r>
              <a:rPr lang="zh-CN" altLang="en-US" sz="2400" dirty="0">
                <a:sym typeface="+mn-ea"/>
              </a:rPr>
              <a:t>盲目自信</a:t>
            </a:r>
            <a:r>
              <a:rPr lang="en-US" altLang="zh-CN" sz="2400" dirty="0">
                <a:sym typeface="+mn-ea"/>
              </a:rPr>
              <a:t>”</a:t>
            </a:r>
            <a:r>
              <a:rPr lang="zh-CN" altLang="en-US" sz="2400" dirty="0">
                <a:sym typeface="+mn-ea"/>
              </a:rPr>
              <a:t>，建议从基础概念复习；若自评低但实考高，标记为</a:t>
            </a:r>
            <a:r>
              <a:rPr lang="en-US" altLang="zh-CN" sz="2400" dirty="0">
                <a:sym typeface="+mn-ea"/>
              </a:rPr>
              <a:t>“</a:t>
            </a:r>
            <a:r>
              <a:rPr lang="zh-CN" altLang="en-US" sz="2400" dirty="0">
                <a:sym typeface="+mn-ea"/>
              </a:rPr>
              <a:t>缺乏自信</a:t>
            </a:r>
            <a:r>
              <a:rPr lang="en-US" altLang="zh-CN" sz="2400" dirty="0">
                <a:sym typeface="+mn-ea"/>
              </a:rPr>
              <a:t>”</a:t>
            </a:r>
            <a:r>
              <a:rPr lang="zh-CN" altLang="en-US" sz="2400" dirty="0">
                <a:sym typeface="+mn-ea"/>
              </a:rPr>
              <a:t>，建议多给予鼓励。</a:t>
            </a:r>
            <a:endParaRPr lang="zh-CN" altLang="en-US" sz="2400" dirty="0">
              <a:sym typeface="+mn-ea"/>
            </a:endParaRPr>
          </a:p>
          <a:p>
            <a:r>
              <a:rPr lang="en-US" altLang="zh-CN" sz="2400" b="1" dirty="0">
                <a:sym typeface="+mn-ea"/>
              </a:rPr>
              <a:t>2</a:t>
            </a:r>
            <a:r>
              <a:rPr lang="zh-CN" altLang="en-US" sz="2400" b="1" dirty="0">
                <a:sym typeface="+mn-ea"/>
              </a:rPr>
              <a:t>、动态更新画像：</a:t>
            </a:r>
            <a:r>
              <a:rPr lang="zh-CN" altLang="en-US" sz="2400" dirty="0">
                <a:sym typeface="+mn-ea"/>
              </a:rPr>
              <a:t>调用</a:t>
            </a:r>
            <a:r>
              <a:rPr lang="en-US" altLang="zh-CN" sz="2400" dirty="0">
                <a:sym typeface="+mn-ea"/>
              </a:rPr>
              <a:t> LLM</a:t>
            </a:r>
            <a:r>
              <a:rPr lang="zh-CN" altLang="en-US" sz="2400" dirty="0">
                <a:sym typeface="+mn-ea"/>
              </a:rPr>
              <a:t>输出</a:t>
            </a:r>
            <a:r>
              <a:rPr lang="en-US" altLang="zh-CN" sz="2400" dirty="0">
                <a:sym typeface="+mn-ea"/>
              </a:rPr>
              <a:t> JSON </a:t>
            </a:r>
            <a:r>
              <a:rPr lang="zh-CN" altLang="en-US" sz="2400" dirty="0">
                <a:sym typeface="+mn-ea"/>
              </a:rPr>
              <a:t>格式的雷达图数据（</a:t>
            </a:r>
            <a:r>
              <a:rPr lang="en-US" altLang="zh-CN" sz="2400" dirty="0">
                <a:sym typeface="+mn-ea"/>
              </a:rPr>
              <a:t>6 </a:t>
            </a:r>
            <a:r>
              <a:rPr lang="zh-CN" altLang="en-US" sz="2400" dirty="0">
                <a:sym typeface="+mn-ea"/>
              </a:rPr>
              <a:t>个维度、自评分、客观分、差异值），并此数据将写入</a:t>
            </a:r>
            <a:r>
              <a:rPr lang="en-US" altLang="zh-CN" sz="2400" dirty="0">
                <a:sym typeface="+mn-ea"/>
              </a:rPr>
              <a:t> SQLite </a:t>
            </a:r>
            <a:r>
              <a:rPr lang="zh-CN" altLang="en-US" sz="2400" dirty="0">
                <a:sym typeface="+mn-ea"/>
              </a:rPr>
              <a:t>长期记忆库。</a:t>
            </a:r>
            <a:r>
              <a:rPr lang="zh-CN" altLang="en-US" sz="2400" dirty="0">
                <a:sym typeface="+mn-ea"/>
              </a:rPr>
              <a:t>基于</a:t>
            </a:r>
            <a:r>
              <a:rPr lang="en-US" altLang="zh-CN" sz="2400" dirty="0">
                <a:sym typeface="+mn-ea"/>
              </a:rPr>
              <a:t>“</a:t>
            </a:r>
            <a:r>
              <a:rPr lang="zh-CN" altLang="en-US" sz="2400" dirty="0">
                <a:sym typeface="+mn-ea"/>
              </a:rPr>
              <a:t>学前 </a:t>
            </a:r>
            <a:r>
              <a:rPr lang="en-US" altLang="zh-CN" sz="2400" dirty="0">
                <a:sym typeface="+mn-ea"/>
              </a:rPr>
              <a:t>- </a:t>
            </a:r>
            <a:r>
              <a:rPr lang="zh-CN" altLang="en-US" sz="2400" dirty="0">
                <a:sym typeface="+mn-ea"/>
              </a:rPr>
              <a:t>学后</a:t>
            </a:r>
            <a:r>
              <a:rPr lang="en-US" altLang="zh-CN" sz="2400" dirty="0">
                <a:sym typeface="+mn-ea"/>
              </a:rPr>
              <a:t>”</a:t>
            </a:r>
            <a:r>
              <a:rPr lang="zh-CN" altLang="en-US" sz="2400" dirty="0">
                <a:sym typeface="+mn-ea"/>
              </a:rPr>
              <a:t>双重测评机制和对话记忆库，</a:t>
            </a:r>
            <a:r>
              <a:rPr lang="zh-CN" altLang="en-US" sz="2400" dirty="0">
                <a:sym typeface="+mn-ea"/>
              </a:rPr>
              <a:t>实时捕捉用户状态动态变化，实现自适应画像更新。</a:t>
            </a:r>
            <a:endParaRPr lang="zh-CN" altLang="en-US" sz="2400" dirty="0">
              <a:sym typeface="+mn-ea"/>
            </a:endParaRPr>
          </a:p>
          <a:p>
            <a:r>
              <a:rPr lang="en-US" altLang="zh-CN" sz="2400" b="1" dirty="0">
                <a:sym typeface="+mn-ea"/>
              </a:rPr>
              <a:t>3</a:t>
            </a:r>
            <a:r>
              <a:rPr lang="zh-CN" altLang="en-US" sz="2400" b="1" dirty="0">
                <a:sym typeface="+mn-ea"/>
              </a:rPr>
              <a:t>、题目生成：</a:t>
            </a:r>
            <a:r>
              <a:rPr lang="zh-CN" altLang="en-US" sz="2400" dirty="0">
                <a:sym typeface="+mn-ea"/>
              </a:rPr>
              <a:t>生成的</a:t>
            </a:r>
            <a:r>
              <a:rPr lang="en-US" altLang="zh-CN" sz="2400" dirty="0">
                <a:sym typeface="+mn-ea"/>
              </a:rPr>
              <a:t> JSON </a:t>
            </a:r>
            <a:r>
              <a:rPr lang="zh-CN" altLang="en-US" sz="2400" dirty="0">
                <a:sym typeface="+mn-ea"/>
              </a:rPr>
              <a:t>必须包含客观题的标准答案和解析，这是后续精准评分和教学的基石。</a:t>
            </a:r>
            <a:r>
              <a:rPr lang="zh-CN" altLang="en-US" sz="2400" dirty="0">
                <a:sym typeface="+mn-ea"/>
              </a:rPr>
              <a:t>对知识点进行难度分级和</a:t>
            </a:r>
            <a:r>
              <a:rPr lang="zh-CN" altLang="en-US" sz="2400" dirty="0">
                <a:sym typeface="+mn-ea"/>
              </a:rPr>
              <a:t>关联的小知识点归属标记，</a:t>
            </a:r>
            <a:endParaRPr lang="zh-CN" altLang="en-US" sz="2400" dirty="0">
              <a:sym typeface="+mn-ea"/>
            </a:endParaRPr>
          </a:p>
          <a:p>
            <a:endParaRPr lang="zh-CN" altLang="en-US" sz="2400" b="1" dirty="0"/>
          </a:p>
          <a:p>
            <a:endParaRPr lang="zh-CN" altLang="en-US" sz="2400" b="1" dirty="0"/>
          </a:p>
        </p:txBody>
      </p:sp>
    </p:spTree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63227" y="229839"/>
            <a:ext cx="4282732" cy="782638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详细计划</a:t>
            </a:r>
            <a:r>
              <a:rPr lang="zh-CN" altLang="en-US" sz="3200" dirty="0"/>
              <a:t>完善</a:t>
            </a:r>
            <a:endParaRPr lang="zh-CN" altLang="en-US" sz="3200" dirty="0"/>
          </a:p>
        </p:txBody>
      </p:sp>
      <p:sp>
        <p:nvSpPr>
          <p:cNvPr id="4" name="文本框 3"/>
          <p:cNvSpPr txBox="1"/>
          <p:nvPr/>
        </p:nvSpPr>
        <p:spPr>
          <a:xfrm>
            <a:off x="481965" y="1252271"/>
            <a:ext cx="1070229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学后考题制定功能：</a:t>
            </a:r>
            <a:endParaRPr lang="zh-CN" altLang="en-US" sz="2400" b="1" dirty="0"/>
          </a:p>
          <a:p>
            <a:r>
              <a:rPr lang="en-US" altLang="zh-CN" sz="2400" b="1" dirty="0"/>
              <a:t>1</a:t>
            </a:r>
            <a:r>
              <a:rPr lang="zh-CN" altLang="en-US" sz="2400" b="1" dirty="0"/>
              <a:t>、上下文感知：</a:t>
            </a:r>
            <a:r>
              <a:rPr lang="zh-CN" altLang="en-US" sz="2400" dirty="0"/>
              <a:t>通过</a:t>
            </a:r>
            <a:r>
              <a:rPr lang="en-US" altLang="zh-CN" sz="2400" dirty="0"/>
              <a:t> state</a:t>
            </a:r>
            <a:r>
              <a:rPr lang="zh-CN" altLang="en-US" sz="2400" dirty="0"/>
              <a:t>获取</a:t>
            </a:r>
            <a:r>
              <a:rPr lang="en-US" altLang="zh-CN" sz="2400" dirty="0"/>
              <a:t>“</a:t>
            </a:r>
            <a:r>
              <a:rPr lang="zh-CN" altLang="en-US" sz="2400" dirty="0"/>
              <a:t>刚讲过的教案</a:t>
            </a:r>
            <a:r>
              <a:rPr lang="en-US" altLang="zh-CN" sz="2400" dirty="0"/>
              <a:t>”</a:t>
            </a:r>
            <a:r>
              <a:rPr lang="zh-CN" altLang="en-US" sz="2400" dirty="0"/>
              <a:t>，</a:t>
            </a:r>
            <a:r>
              <a:rPr lang="zh-CN" altLang="en-US" sz="2400" dirty="0"/>
              <a:t>以确保了题目内容与当前教学片段在语义上的强相关性</a:t>
            </a:r>
            <a:endParaRPr lang="zh-CN" altLang="en-US" sz="2400" dirty="0"/>
          </a:p>
          <a:p>
            <a:r>
              <a:rPr lang="en-US" altLang="zh-CN" sz="2400" b="1" dirty="0"/>
              <a:t>2</a:t>
            </a:r>
            <a:r>
              <a:rPr lang="zh-CN" altLang="en-US" sz="2400" b="1" dirty="0"/>
              <a:t>、针对性题目设计：</a:t>
            </a:r>
            <a:r>
              <a:rPr lang="zh-CN" altLang="en-US" sz="2400" dirty="0"/>
              <a:t>利用检索增强寻找原始知识库中的细节或经典案例，调用</a:t>
            </a:r>
            <a:r>
              <a:rPr lang="en-US" altLang="zh-CN" sz="2400" dirty="0"/>
              <a:t> retriever </a:t>
            </a:r>
            <a:r>
              <a:rPr lang="zh-CN" altLang="en-US" sz="2400" dirty="0"/>
              <a:t>去查找该知识点下的</a:t>
            </a:r>
            <a:r>
              <a:rPr lang="en-US" altLang="zh-CN" sz="2400" dirty="0"/>
              <a:t>“</a:t>
            </a:r>
            <a:r>
              <a:rPr lang="zh-CN" altLang="en-US" sz="2400" dirty="0"/>
              <a:t>易错点</a:t>
            </a:r>
            <a:r>
              <a:rPr lang="en-US" altLang="zh-CN" sz="2400" dirty="0"/>
              <a:t>”</a:t>
            </a:r>
            <a:r>
              <a:rPr lang="zh-CN" altLang="en-US" sz="2400" dirty="0"/>
              <a:t>或</a:t>
            </a:r>
            <a:r>
              <a:rPr lang="en-US" altLang="zh-CN" sz="2400" dirty="0"/>
              <a:t>“</a:t>
            </a:r>
            <a:r>
              <a:rPr lang="zh-CN" altLang="en-US" sz="2400" dirty="0"/>
              <a:t>经典考题</a:t>
            </a:r>
            <a:r>
              <a:rPr lang="en-US" altLang="zh-CN" sz="2400" dirty="0"/>
              <a:t>”</a:t>
            </a:r>
            <a:r>
              <a:rPr lang="zh-CN" altLang="en-US" sz="2400" dirty="0"/>
              <a:t>作为出题素材。</a:t>
            </a:r>
            <a:r>
              <a:rPr lang="zh-CN" altLang="en-US" sz="2400" dirty="0">
                <a:sym typeface="+mn-ea"/>
              </a:rPr>
              <a:t>将标准答案、评分标准、解析、难度标签、考察知识点等关键元数据从</a:t>
            </a:r>
            <a:r>
              <a:rPr lang="en-US" altLang="zh-CN" sz="2400" dirty="0">
                <a:sym typeface="+mn-ea"/>
              </a:rPr>
              <a:t> LLM </a:t>
            </a:r>
            <a:r>
              <a:rPr lang="zh-CN" altLang="en-US" sz="2400" dirty="0">
                <a:sym typeface="+mn-ea"/>
              </a:rPr>
              <a:t>的内部思维中结构化提取出来。</a:t>
            </a:r>
            <a:endParaRPr lang="zh-CN" altLang="en-US" sz="2400" dirty="0"/>
          </a:p>
          <a:p>
            <a:r>
              <a:rPr lang="en-US" altLang="zh-CN" sz="2400" b="1" dirty="0"/>
              <a:t>3</a:t>
            </a:r>
            <a:r>
              <a:rPr lang="zh-CN" altLang="en-US" sz="2400" b="1" dirty="0"/>
              <a:t>、上下节点连接：</a:t>
            </a:r>
            <a:r>
              <a:rPr lang="zh-CN" altLang="en-US" sz="2400" dirty="0"/>
              <a:t>将上游</a:t>
            </a:r>
            <a:r>
              <a:rPr lang="en-US" altLang="zh-CN" sz="2400" dirty="0"/>
              <a:t>tutor</a:t>
            </a:r>
            <a:r>
              <a:rPr lang="zh-CN" altLang="en-US" sz="2400" dirty="0"/>
              <a:t>节点讲授内容与下游</a:t>
            </a:r>
            <a:r>
              <a:rPr lang="en-US" altLang="zh-CN" sz="2400" dirty="0">
                <a:sym typeface="+mn-ea"/>
              </a:rPr>
              <a:t>evaluator</a:t>
            </a:r>
            <a:r>
              <a:rPr lang="zh-CN" altLang="en-US" sz="2400" dirty="0">
                <a:sym typeface="+mn-ea"/>
              </a:rPr>
              <a:t>节点关联，形成逻辑</a:t>
            </a:r>
            <a:r>
              <a:rPr lang="zh-CN" altLang="en-US" sz="2400" dirty="0">
                <a:sym typeface="+mn-ea"/>
              </a:rPr>
              <a:t>闭环。</a:t>
            </a:r>
            <a:endParaRPr lang="zh-CN" altLang="en-US" sz="2400" dirty="0">
              <a:sym typeface="+mn-ea"/>
            </a:endParaRPr>
          </a:p>
        </p:txBody>
      </p:sp>
    </p:spTree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63227" y="229839"/>
            <a:ext cx="4282732" cy="782638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详细计划</a:t>
            </a:r>
            <a:r>
              <a:rPr lang="zh-CN" altLang="en-US" sz="3200" dirty="0"/>
              <a:t>完善</a:t>
            </a:r>
            <a:endParaRPr lang="zh-CN" altLang="en-US" sz="3200" dirty="0"/>
          </a:p>
        </p:txBody>
      </p:sp>
      <p:sp>
        <p:nvSpPr>
          <p:cNvPr id="4" name="文本框 3"/>
          <p:cNvSpPr txBox="1"/>
          <p:nvPr/>
        </p:nvSpPr>
        <p:spPr>
          <a:xfrm>
            <a:off x="481965" y="1252271"/>
            <a:ext cx="10702290" cy="4892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对话记忆数据库：</a:t>
            </a:r>
            <a:endParaRPr lang="zh-CN" altLang="en-US" sz="2400" b="1" dirty="0"/>
          </a:p>
          <a:p>
            <a:r>
              <a:rPr lang="en-US" altLang="zh-CN" sz="2400" b="1" dirty="0"/>
              <a:t>1</a:t>
            </a:r>
            <a:r>
              <a:rPr lang="zh-CN" altLang="en-US" sz="2400" b="1" dirty="0"/>
              <a:t>、</a:t>
            </a:r>
            <a:r>
              <a:rPr lang="zh-CN" altLang="en-US" sz="2400" b="1" dirty="0">
                <a:sym typeface="+mn-ea"/>
              </a:rPr>
              <a:t>长期保存与存储策略：</a:t>
            </a:r>
            <a:r>
              <a:rPr lang="zh-CN" altLang="en-US" sz="2400" dirty="0"/>
              <a:t>热数据：最近</a:t>
            </a:r>
            <a:r>
              <a:rPr lang="en-US" altLang="zh-CN" sz="2400" dirty="0"/>
              <a:t> 50 </a:t>
            </a:r>
            <a:r>
              <a:rPr lang="zh-CN" altLang="en-US" sz="2400" dirty="0"/>
              <a:t>轮对话保留完整文本，存入</a:t>
            </a:r>
            <a:r>
              <a:rPr lang="en-US" altLang="zh-CN" sz="2400" dirty="0"/>
              <a:t> SQLite</a:t>
            </a:r>
            <a:r>
              <a:rPr lang="zh-CN" altLang="en-US" sz="2400" dirty="0"/>
              <a:t>，供实时检索。冷数据：超过</a:t>
            </a:r>
            <a:r>
              <a:rPr lang="en-US" altLang="zh-CN" sz="2400" dirty="0"/>
              <a:t> 50 </a:t>
            </a:r>
            <a:r>
              <a:rPr lang="zh-CN" altLang="en-US" sz="2400" dirty="0"/>
              <a:t>轮的旧对话，经过</a:t>
            </a:r>
            <a:r>
              <a:rPr lang="en-US" altLang="zh-CN" sz="2400" dirty="0"/>
              <a:t> LLM </a:t>
            </a:r>
            <a:r>
              <a:rPr lang="zh-CN" altLang="en-US" sz="2400" dirty="0"/>
              <a:t>摘要总结，将摘要存入长期档案。</a:t>
            </a:r>
            <a:endParaRPr lang="zh-CN" altLang="en-US" sz="2400" dirty="0"/>
          </a:p>
          <a:p>
            <a:r>
              <a:rPr lang="en-US" altLang="zh-CN" sz="2400" b="1" dirty="0"/>
              <a:t>2</a:t>
            </a:r>
            <a:r>
              <a:rPr lang="zh-CN" altLang="en-US" sz="2400" b="1" dirty="0"/>
              <a:t>、与全局</a:t>
            </a:r>
            <a:r>
              <a:rPr lang="en-US" altLang="zh-CN" sz="2400" b="1" dirty="0"/>
              <a:t> State </a:t>
            </a:r>
            <a:r>
              <a:rPr lang="zh-CN" altLang="en-US" sz="2400" b="1" dirty="0"/>
              <a:t>及</a:t>
            </a:r>
            <a:r>
              <a:rPr lang="en-US" altLang="zh-CN" sz="2400" b="1" dirty="0"/>
              <a:t> ID </a:t>
            </a:r>
            <a:r>
              <a:rPr lang="zh-CN" altLang="en-US" sz="2400" b="1" dirty="0"/>
              <a:t>的深度关联：</a:t>
            </a:r>
            <a:r>
              <a:rPr lang="zh-CN" altLang="en-US" sz="2400" dirty="0"/>
              <a:t>每一条记忆记录都与</a:t>
            </a:r>
            <a:r>
              <a:rPr lang="en-US" altLang="zh-CN" sz="2400" dirty="0"/>
              <a:t> LangGraph </a:t>
            </a:r>
            <a:r>
              <a:rPr lang="zh-CN" altLang="en-US" sz="2400" dirty="0"/>
              <a:t>的</a:t>
            </a:r>
            <a:r>
              <a:rPr lang="en-US" altLang="zh-CN" sz="2400" dirty="0"/>
              <a:t> thread_id (</a:t>
            </a:r>
            <a:r>
              <a:rPr lang="zh-CN" altLang="en-US" sz="2400" dirty="0"/>
              <a:t>会话</a:t>
            </a:r>
            <a:r>
              <a:rPr lang="en-US" altLang="zh-CN" sz="2400" dirty="0"/>
              <a:t> ID) </a:t>
            </a:r>
            <a:r>
              <a:rPr lang="zh-CN" altLang="en-US" sz="2400" dirty="0"/>
              <a:t>和</a:t>
            </a:r>
            <a:r>
              <a:rPr lang="en-US" altLang="zh-CN" sz="2400" dirty="0"/>
              <a:t> student_id (</a:t>
            </a:r>
            <a:r>
              <a:rPr lang="zh-CN" altLang="en-US" sz="2400" dirty="0"/>
              <a:t>用户</a:t>
            </a:r>
            <a:r>
              <a:rPr lang="en-US" altLang="zh-CN" sz="2400" dirty="0"/>
              <a:t> ID) </a:t>
            </a:r>
            <a:r>
              <a:rPr lang="zh-CN" altLang="en-US" sz="2400" dirty="0"/>
              <a:t>强绑定。</a:t>
            </a:r>
            <a:r>
              <a:rPr lang="zh-CN" altLang="en-US" sz="2400" dirty="0">
                <a:sym typeface="+mn-ea"/>
              </a:rPr>
              <a:t>严格基于</a:t>
            </a:r>
            <a:r>
              <a:rPr lang="en-US" altLang="zh-CN" sz="2400" dirty="0">
                <a:sym typeface="+mn-ea"/>
              </a:rPr>
              <a:t> student_id </a:t>
            </a:r>
            <a:r>
              <a:rPr lang="zh-CN" altLang="en-US" sz="2400" dirty="0">
                <a:sym typeface="+mn-ea"/>
              </a:rPr>
              <a:t>进行数据隔离，确保不同学生的记忆互不干扰，符合教育数据隐私规范</a:t>
            </a:r>
            <a:r>
              <a:rPr lang="zh-CN" altLang="en-US" sz="2400" dirty="0"/>
              <a:t>。定期基于记忆记录，更新学生的能力画像向量。</a:t>
            </a:r>
            <a:endParaRPr lang="zh-CN" altLang="en-US" sz="2400" dirty="0"/>
          </a:p>
          <a:p>
            <a:r>
              <a:rPr lang="en-US" altLang="zh-CN" sz="2400" b="1" dirty="0"/>
              <a:t>3</a:t>
            </a:r>
            <a:r>
              <a:rPr lang="zh-CN" altLang="en-US" sz="2400" b="1" dirty="0"/>
              <a:t>、</a:t>
            </a:r>
            <a:r>
              <a:rPr lang="en-US" altLang="zh-CN" sz="2400" b="1" dirty="0">
                <a:sym typeface="+mn-ea"/>
              </a:rPr>
              <a:t>rag2.0</a:t>
            </a:r>
            <a:r>
              <a:rPr lang="zh-CN" altLang="en-US" sz="2400" b="1" dirty="0">
                <a:sym typeface="+mn-ea"/>
              </a:rPr>
              <a:t>检索方式：</a:t>
            </a:r>
            <a:r>
              <a:rPr lang="zh-CN" altLang="en-US" sz="2400" dirty="0">
                <a:sym typeface="+mn-ea"/>
              </a:rPr>
              <a:t>将学习记录存入带有丰富元数据的结构化图谱。包括</a:t>
            </a:r>
            <a:r>
              <a:rPr lang="en-US" altLang="zh-CN" sz="2400" dirty="0"/>
              <a:t>timestamp: </a:t>
            </a:r>
            <a:r>
              <a:rPr lang="zh-CN" altLang="en-US" sz="2400" dirty="0"/>
              <a:t>时间戳、</a:t>
            </a:r>
            <a:r>
              <a:rPr lang="en-US" altLang="zh-CN" sz="2400" dirty="0"/>
              <a:t>student_id: </a:t>
            </a:r>
            <a:r>
              <a:rPr lang="zh-CN" altLang="en-US" sz="2400" dirty="0"/>
              <a:t>学生</a:t>
            </a:r>
            <a:r>
              <a:rPr lang="en-US" altLang="zh-CN" sz="2400" dirty="0"/>
              <a:t> ID</a:t>
            </a:r>
            <a:r>
              <a:rPr lang="zh-CN" altLang="en-US" sz="2400" dirty="0"/>
              <a:t>、</a:t>
            </a:r>
            <a:r>
              <a:rPr lang="en-US" altLang="zh-CN" sz="2400" dirty="0"/>
              <a:t>topic_id: </a:t>
            </a:r>
            <a:r>
              <a:rPr lang="zh-CN" altLang="en-US" sz="2400" dirty="0"/>
              <a:t>知识点</a:t>
            </a:r>
            <a:r>
              <a:rPr lang="en-US" altLang="zh-CN" sz="2400" dirty="0"/>
              <a:t> ID</a:t>
            </a:r>
            <a:r>
              <a:rPr lang="zh-CN" altLang="en-US" sz="2400" dirty="0"/>
              <a:t>、</a:t>
            </a:r>
            <a:r>
              <a:rPr lang="en-US" altLang="zh-CN" sz="2400" dirty="0"/>
              <a:t>outcome: </a:t>
            </a:r>
            <a:r>
              <a:rPr lang="zh-CN" altLang="en-US" sz="2400" dirty="0"/>
              <a:t>掌握程度、</a:t>
            </a:r>
            <a:r>
              <a:rPr lang="en-US" altLang="zh-CN" sz="2400" dirty="0"/>
              <a:t>error_pattern: </a:t>
            </a:r>
            <a:r>
              <a:rPr lang="zh-CN" altLang="en-US" sz="2400" dirty="0"/>
              <a:t>错误原因标签、</a:t>
            </a:r>
            <a:r>
              <a:rPr lang="en-US" altLang="zh-CN" sz="2400" dirty="0"/>
              <a:t>score: </a:t>
            </a:r>
            <a:r>
              <a:rPr lang="zh-CN" altLang="en-US" sz="2400" dirty="0"/>
              <a:t>量化得分等。查询时</a:t>
            </a:r>
            <a:r>
              <a:rPr lang="zh-CN" altLang="en-US" sz="2400" dirty="0"/>
              <a:t>不再猜测文本含义，而是生成确定的过滤谓词进行过滤式检索。</a:t>
            </a:r>
            <a:endParaRPr lang="zh-CN" altLang="en-US" sz="2400" dirty="0"/>
          </a:p>
          <a:p>
            <a:endParaRPr lang="zh-CN" altLang="en-US" sz="2400" dirty="0"/>
          </a:p>
        </p:txBody>
      </p:sp>
    </p:spTree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63227" y="229839"/>
            <a:ext cx="4282732" cy="782638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详细计划</a:t>
            </a:r>
            <a:r>
              <a:rPr lang="zh-CN" altLang="en-US" sz="3200" dirty="0"/>
              <a:t>完善</a:t>
            </a:r>
            <a:endParaRPr lang="zh-CN" altLang="en-US" sz="3200" dirty="0"/>
          </a:p>
        </p:txBody>
      </p:sp>
      <p:sp>
        <p:nvSpPr>
          <p:cNvPr id="4" name="文本框 3"/>
          <p:cNvSpPr txBox="1"/>
          <p:nvPr/>
        </p:nvSpPr>
        <p:spPr>
          <a:xfrm>
            <a:off x="481965" y="1252220"/>
            <a:ext cx="10607040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静态</a:t>
            </a:r>
            <a:r>
              <a:rPr lang="zh-CN" altLang="en-US" sz="2400" b="1" dirty="0"/>
              <a:t>知识库：</a:t>
            </a:r>
            <a:endParaRPr lang="zh-CN" altLang="en-US" sz="2400" b="1" dirty="0"/>
          </a:p>
          <a:p>
            <a:r>
              <a:rPr lang="en-US" altLang="zh-CN" sz="2400" b="1" dirty="0"/>
              <a:t>1</a:t>
            </a:r>
            <a:r>
              <a:rPr lang="zh-CN" altLang="en-US" sz="2400" b="1" dirty="0"/>
              <a:t>、本地上传与多模态解析：</a:t>
            </a:r>
            <a:r>
              <a:rPr lang="zh-CN" altLang="en-US" sz="2400" dirty="0"/>
              <a:t>支持</a:t>
            </a:r>
            <a:r>
              <a:rPr lang="en-US" altLang="zh-CN" sz="2400" dirty="0"/>
              <a:t> PDF</a:t>
            </a:r>
            <a:r>
              <a:rPr lang="zh-CN" altLang="en-US" sz="2400" dirty="0"/>
              <a:t>、</a:t>
            </a:r>
            <a:r>
              <a:rPr lang="en-US" altLang="zh-CN" sz="2400" dirty="0"/>
              <a:t>Markdown</a:t>
            </a:r>
            <a:r>
              <a:rPr lang="zh-CN" altLang="en-US" sz="2400" dirty="0"/>
              <a:t>、</a:t>
            </a:r>
            <a:r>
              <a:rPr lang="en-US" altLang="zh-CN" sz="2400" dirty="0"/>
              <a:t>Word </a:t>
            </a:r>
            <a:r>
              <a:rPr lang="zh-CN" altLang="en-US" sz="2400" dirty="0"/>
              <a:t>等格式上传。不只是按</a:t>
            </a:r>
            <a:r>
              <a:rPr lang="zh-CN" altLang="en-US" sz="2400" dirty="0"/>
              <a:t>固定长度截断，而是基于语义完整性进行切片。对于包含公式、图表的</a:t>
            </a:r>
            <a:r>
              <a:rPr lang="en-US" altLang="zh-CN" sz="2400" dirty="0"/>
              <a:t> PDF</a:t>
            </a:r>
            <a:r>
              <a:rPr lang="zh-CN" altLang="en-US" sz="2400" dirty="0"/>
              <a:t>，使用多模态模型提取内容并转化为结构化文本描述。</a:t>
            </a:r>
            <a:endParaRPr lang="zh-CN" altLang="en-US" sz="2400" b="1" dirty="0"/>
          </a:p>
          <a:p>
            <a:r>
              <a:rPr lang="en-US" altLang="zh-CN" sz="2400" b="1" dirty="0"/>
              <a:t>2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rag2.0</a:t>
            </a:r>
            <a:r>
              <a:rPr lang="zh-CN" altLang="en-US" sz="2400" b="1" dirty="0"/>
              <a:t>检索方式：</a:t>
            </a:r>
            <a:r>
              <a:rPr lang="zh-CN" altLang="en-US" sz="2400" dirty="0">
                <a:sym typeface="+mn-ea"/>
              </a:rPr>
              <a:t>在向量入库前，利用</a:t>
            </a:r>
            <a:r>
              <a:rPr lang="en-US" altLang="zh-CN" sz="2400" dirty="0">
                <a:sym typeface="+mn-ea"/>
              </a:rPr>
              <a:t> LLM </a:t>
            </a:r>
            <a:r>
              <a:rPr lang="zh-CN" altLang="en-US" sz="2400" dirty="0">
                <a:sym typeface="+mn-ea"/>
              </a:rPr>
              <a:t>提取切片中的实体及其关系，</a:t>
            </a:r>
            <a:r>
              <a:rPr lang="zh-CN" altLang="en-US" sz="2400" dirty="0"/>
              <a:t>将教材构建为</a:t>
            </a:r>
            <a:r>
              <a:rPr lang="zh-CN" altLang="en-US" sz="2400" dirty="0">
                <a:sym typeface="+mn-ea"/>
              </a:rPr>
              <a:t>知识</a:t>
            </a:r>
            <a:r>
              <a:rPr lang="zh-CN" altLang="en-US" sz="2400" dirty="0"/>
              <a:t>图谱</a:t>
            </a:r>
            <a:r>
              <a:rPr lang="en-US" altLang="zh-CN" sz="2400" dirty="0">
                <a:sym typeface="+mn-ea"/>
              </a:rPr>
              <a:t> (Knowledge Graph)</a:t>
            </a:r>
            <a:r>
              <a:rPr lang="zh-CN" altLang="en-US" sz="2400" dirty="0"/>
              <a:t>。检索时不只查最相关向量，还在图谱上遍历</a:t>
            </a:r>
            <a:r>
              <a:rPr lang="en-US" altLang="zh-CN" sz="2400" dirty="0"/>
              <a:t>“</a:t>
            </a:r>
            <a:r>
              <a:rPr lang="zh-CN" altLang="en-US" sz="2400" dirty="0"/>
              <a:t>前置依赖</a:t>
            </a:r>
            <a:r>
              <a:rPr lang="en-US" altLang="zh-CN" sz="2400" dirty="0"/>
              <a:t>”</a:t>
            </a:r>
            <a:r>
              <a:rPr lang="zh-CN" altLang="en-US" sz="2400" dirty="0"/>
              <a:t>关系，</a:t>
            </a:r>
            <a:r>
              <a:rPr lang="zh-CN" altLang="en-US" sz="2400" dirty="0"/>
              <a:t>并对混合检索结果进行重排序，剔除噪声，确保</a:t>
            </a:r>
            <a:r>
              <a:rPr lang="en-US" altLang="zh-CN" sz="2400" dirty="0"/>
              <a:t> Tutor </a:t>
            </a:r>
            <a:r>
              <a:rPr lang="zh-CN" altLang="en-US" sz="2400" dirty="0"/>
              <a:t>拿到的上下文逻辑严密。</a:t>
            </a:r>
            <a:endParaRPr lang="zh-CN" altLang="en-US" sz="2400" dirty="0"/>
          </a:p>
          <a:p>
            <a:r>
              <a:rPr lang="en-US" altLang="zh-CN" sz="2400" b="1" dirty="0"/>
              <a:t>3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pdf</a:t>
            </a:r>
            <a:r>
              <a:rPr lang="zh-CN" altLang="en-US" sz="2400" b="1" dirty="0"/>
              <a:t>处理与向量入库：</a:t>
            </a:r>
            <a:r>
              <a:rPr lang="zh-CN" altLang="en-US" sz="2400" dirty="0"/>
              <a:t>用</a:t>
            </a:r>
            <a:r>
              <a:rPr lang="en-US" altLang="zh-CN" sz="2400" dirty="0"/>
              <a:t> PyMuPDF </a:t>
            </a:r>
            <a:r>
              <a:rPr lang="zh-CN" altLang="en-US" sz="2400" dirty="0"/>
              <a:t>提取文本，遇到图片区域调用</a:t>
            </a:r>
            <a:r>
              <a:rPr lang="en-US" altLang="zh-CN" sz="2400" dirty="0"/>
              <a:t> PaddleOCR </a:t>
            </a:r>
            <a:r>
              <a:rPr lang="zh-CN" altLang="en-US" sz="2400" dirty="0"/>
              <a:t>进行识别。基于语义切片，确保一个知识点在一个块内，不被切断。</a:t>
            </a:r>
            <a:r>
              <a:rPr lang="en-US" altLang="zh-CN" sz="2400" dirty="0"/>
              <a:t> </a:t>
            </a:r>
            <a:r>
              <a:rPr lang="zh-CN" altLang="en-US" sz="2400" dirty="0"/>
              <a:t>之后调用</a:t>
            </a:r>
            <a:r>
              <a:rPr lang="en-US" altLang="zh-CN" sz="2400" dirty="0"/>
              <a:t>Embedding </a:t>
            </a:r>
            <a:r>
              <a:rPr lang="zh-CN" altLang="en-US" sz="2400" dirty="0"/>
              <a:t>模型，将</a:t>
            </a:r>
            <a:r>
              <a:rPr lang="en-US" altLang="zh-CN" sz="2400" dirty="0"/>
              <a:t>Markdown </a:t>
            </a:r>
            <a:r>
              <a:rPr lang="zh-CN" altLang="en-US" sz="2400" dirty="0"/>
              <a:t>切片列表转换为</a:t>
            </a:r>
            <a:r>
              <a:rPr lang="en-US" altLang="zh-CN" sz="2400" dirty="0"/>
              <a:t> </a:t>
            </a:r>
            <a:r>
              <a:rPr lang="zh-CN" altLang="en-US" sz="2400" dirty="0"/>
              <a:t>向量数组</a:t>
            </a:r>
            <a:r>
              <a:rPr lang="zh-CN" altLang="en-US" sz="2400" dirty="0"/>
              <a:t>入</a:t>
            </a:r>
            <a:r>
              <a:rPr lang="en-US" altLang="zh-CN" sz="2400" dirty="0"/>
              <a:t>ChromaDB</a:t>
            </a:r>
            <a:r>
              <a:rPr lang="zh-CN" altLang="en-US" sz="2400" dirty="0"/>
              <a:t>库。</a:t>
            </a:r>
            <a:endParaRPr lang="zh-CN" altLang="en-US" sz="2400" dirty="0"/>
          </a:p>
        </p:txBody>
      </p:sp>
    </p:spTree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025988" y="2009247"/>
            <a:ext cx="1168104" cy="1015623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6"/>
                </a:solidFill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/02</a:t>
            </a:r>
            <a:endParaRPr lang="zh-CN" altLang="en-US" spc="100" dirty="0">
              <a:solidFill>
                <a:schemeClr val="accent6"/>
              </a:solidFill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5313158" y="2350447"/>
            <a:ext cx="4442135" cy="895350"/>
          </a:xfrm>
        </p:spPr>
        <p:txBody>
          <a:bodyPr>
            <a:normAutofit fontScale="90000"/>
          </a:bodyPr>
          <a:lstStyle/>
          <a:p>
            <a:r>
              <a:rPr lang="zh-CN" altLang="en-US" sz="4000" dirty="0">
                <a:sym typeface="+mn-ea"/>
              </a:rPr>
              <a:t>计划偏差分析</a:t>
            </a:r>
            <a:br>
              <a:rPr lang="en-US" altLang="zh-CN" dirty="0"/>
            </a:b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63227" y="229839"/>
            <a:ext cx="4282732" cy="782638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甘特图</a:t>
            </a:r>
            <a:r>
              <a:rPr lang="zh-CN" altLang="en-US" sz="3200" dirty="0"/>
              <a:t>计划对比</a:t>
            </a:r>
            <a:endParaRPr lang="zh-CN" altLang="en-US" sz="3200" dirty="0"/>
          </a:p>
        </p:txBody>
      </p:sp>
      <p:pic>
        <p:nvPicPr>
          <p:cNvPr id="5" name="图片 4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46"/>
          <a:stretch>
            <a:fillRect/>
          </a:stretch>
        </p:blipFill>
        <p:spPr>
          <a:xfrm>
            <a:off x="498475" y="943610"/>
            <a:ext cx="9363075" cy="423164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3834765" y="943610"/>
            <a:ext cx="1184275" cy="4029075"/>
          </a:xfrm>
          <a:prstGeom prst="rect">
            <a:avLst/>
          </a:prstGeom>
          <a:noFill/>
          <a:ln w="38100">
            <a:solidFill>
              <a:srgbClr val="FF000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130935" y="5287010"/>
            <a:ext cx="73348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按照计划进行中，详尽计划打好了基础，接下来将进入真正的开发阶段</a:t>
            </a:r>
            <a:endParaRPr lang="zh-CN" altLang="en-US" sz="2400"/>
          </a:p>
        </p:txBody>
      </p:sp>
    </p:spTree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687191" y="2117152"/>
            <a:ext cx="7341159" cy="889937"/>
          </a:xfrm>
        </p:spPr>
        <p:txBody>
          <a:bodyPr>
            <a:normAutofit/>
          </a:bodyPr>
          <a:lstStyle/>
          <a:p>
            <a:r>
              <a:rPr lang="zh-CN" altLang="en-US" sz="3600" dirty="0">
                <a:sym typeface="+mn-ea"/>
              </a:rPr>
              <a:t>下周计划</a:t>
            </a:r>
            <a:endParaRPr lang="en-US" altLang="zh-CN" sz="3600" dirty="0"/>
          </a:p>
        </p:txBody>
      </p:sp>
      <p:sp>
        <p:nvSpPr>
          <p:cNvPr id="9" name="文本框 8"/>
          <p:cNvSpPr txBox="1"/>
          <p:nvPr/>
        </p:nvSpPr>
        <p:spPr>
          <a:xfrm>
            <a:off x="3424570" y="2057016"/>
            <a:ext cx="1168104" cy="1015623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6"/>
                </a:solidFill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/03</a:t>
            </a:r>
            <a:endParaRPr lang="zh-CN" altLang="en-US" spc="100" dirty="0">
              <a:solidFill>
                <a:schemeClr val="accent6"/>
              </a:solidFill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63227" y="229839"/>
            <a:ext cx="4282732" cy="782638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下周计划</a:t>
            </a:r>
            <a:endParaRPr lang="zh-CN" altLang="en-US" sz="32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" y="1473835"/>
            <a:ext cx="12093575" cy="3010535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回顾">
  <a:themeElements>
    <a:clrScheme name="回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font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2288</Words>
  <Application>WPS 演示</Application>
  <PresentationFormat>宽屏</PresentationFormat>
  <Paragraphs>88</Paragraphs>
  <Slides>14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9" baseType="lpstr">
      <vt:lpstr>Arial</vt:lpstr>
      <vt:lpstr>宋体</vt:lpstr>
      <vt:lpstr>Wingdings</vt:lpstr>
      <vt:lpstr>Calibri</vt:lpstr>
      <vt:lpstr>微软雅黑</vt:lpstr>
      <vt:lpstr>等线 Light</vt:lpstr>
      <vt:lpstr>Roboto</vt:lpstr>
      <vt:lpstr>Times New Roman</vt:lpstr>
      <vt:lpstr>system-ui</vt:lpstr>
      <vt:lpstr>AMGDT</vt:lpstr>
      <vt:lpstr>Arial Unicode MS</vt:lpstr>
      <vt:lpstr>Calibri Light</vt:lpstr>
      <vt:lpstr>等线</vt:lpstr>
      <vt:lpstr>回顾</vt:lpstr>
      <vt:lpstr>TCLayout.ActiveDocument.1</vt:lpstr>
      <vt:lpstr>“伴学智能体”设计                ——项目开题报告&amp;第一周汇报</vt:lpstr>
      <vt:lpstr>PowerPoint 演示文稿</vt:lpstr>
      <vt:lpstr>项目背景与研究价值</vt:lpstr>
      <vt:lpstr>二、项目目标与研究内容</vt:lpstr>
      <vt:lpstr>LangGraph环境搭建</vt:lpstr>
      <vt:lpstr>二、项目目标与研究内容</vt:lpstr>
      <vt:lpstr>详细计划完善</vt:lpstr>
      <vt:lpstr>详细计划完善</vt:lpstr>
      <vt:lpstr>详细计划完善</vt:lpstr>
      <vt:lpstr>详细计划完善</vt:lpstr>
      <vt:lpstr>项目目标与研究内容 </vt:lpstr>
      <vt:lpstr>四、进度管理与预期成果</vt:lpstr>
      <vt:lpstr>技术路线与实施方案</vt:lpstr>
      <vt:lpstr>四、进度管理与预期成果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冠吾 潘</dc:creator>
  <cp:lastModifiedBy>豚豚大人.</cp:lastModifiedBy>
  <cp:revision>38</cp:revision>
  <dcterms:created xsi:type="dcterms:W3CDTF">2025-04-26T13:28:00Z</dcterms:created>
  <dcterms:modified xsi:type="dcterms:W3CDTF">2026-03-17T11:24:07Z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DA1263D7A4D843958CE3B344D0EB5D7C_13</vt:lpwstr>
  </property>
  <property fmtid="{D5CDD505-2E9C-101B-9397-08002B2CF9AE}" pid="3" name="KSOProductBuildVer">
    <vt:lpwstr>2052-12.1.0.25225</vt:lpwstr>
  </property>
</Properties>
</file>