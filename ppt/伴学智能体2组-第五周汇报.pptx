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7" r:id="rId2"/>
    <p:sldId id="265" r:id="rId3"/>
    <p:sldId id="279" r:id="rId4"/>
    <p:sldId id="288" r:id="rId5"/>
    <p:sldId id="317" r:id="rId6"/>
    <p:sldId id="333" r:id="rId7"/>
    <p:sldId id="334" r:id="rId8"/>
    <p:sldId id="332" r:id="rId9"/>
    <p:sldId id="335" r:id="rId10"/>
    <p:sldId id="309" r:id="rId11"/>
    <p:sldId id="328" r:id="rId12"/>
    <p:sldId id="312" r:id="rId13"/>
    <p:sldId id="331" r:id="rId14"/>
    <p:sldId id="283" r:id="rId15"/>
    <p:sldId id="304" r:id="rId16"/>
    <p:sldId id="284" r:id="rId17"/>
    <p:sldId id="30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17323-BFFE-4F93-93AB-01DE5301D8A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70EE9-2E23-48AA-80CC-5513CF86D0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B3A3717A-5040-40EE-A337-D792C9EC5341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1041400" y="5633745"/>
            <a:ext cx="71755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3F82C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1041400" y="3086102"/>
            <a:ext cx="7175501" cy="223778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3F82C4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331201" y="3086102"/>
            <a:ext cx="2565401" cy="245363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331201" y="3382371"/>
            <a:ext cx="2565401" cy="245363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1041400" y="5511167"/>
            <a:ext cx="7175501" cy="0"/>
          </a:xfrm>
          <a:prstGeom prst="line">
            <a:avLst/>
          </a:prstGeom>
          <a:ln>
            <a:solidFill>
              <a:srgbClr val="D1E1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 flipH="1">
            <a:off x="-1" y="-1"/>
            <a:ext cx="4804229" cy="6860858"/>
            <a:chOff x="2994636" y="-1"/>
            <a:chExt cx="9197364" cy="6860858"/>
          </a:xfrm>
        </p:grpSpPr>
        <p:sp>
          <p:nvSpPr>
            <p:cNvPr id="7" name="任意多边形: 形状 6"/>
            <p:cNvSpPr/>
            <p:nvPr userDrawn="1"/>
          </p:nvSpPr>
          <p:spPr>
            <a:xfrm>
              <a:off x="5080001" y="0"/>
              <a:ext cx="7111999" cy="6858000"/>
            </a:xfrm>
            <a:custGeom>
              <a:avLst/>
              <a:gdLst>
                <a:gd name="connsiteX0" fmla="*/ 2400300 w 7112000"/>
                <a:gd name="connsiteY0" fmla="*/ 0 h 6858000"/>
                <a:gd name="connsiteX1" fmla="*/ 7112000 w 7112000"/>
                <a:gd name="connsiteY1" fmla="*/ 0 h 6858000"/>
                <a:gd name="connsiteX2" fmla="*/ 7112000 w 7112000"/>
                <a:gd name="connsiteY2" fmla="*/ 2648857 h 6858000"/>
                <a:gd name="connsiteX3" fmla="*/ 5638800 w 7112000"/>
                <a:gd name="connsiteY3" fmla="*/ 6858000 h 6858000"/>
                <a:gd name="connsiteX4" fmla="*/ 0 w 711200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2000" h="6858000">
                  <a:moveTo>
                    <a:pt x="2400300" y="0"/>
                  </a:moveTo>
                  <a:lnTo>
                    <a:pt x="7112000" y="0"/>
                  </a:lnTo>
                  <a:lnTo>
                    <a:pt x="7112000" y="2648857"/>
                  </a:lnTo>
                  <a:lnTo>
                    <a:pt x="5638800" y="6858000"/>
                  </a:lnTo>
                  <a:lnTo>
                    <a:pt x="0" y="6858000"/>
                  </a:lnTo>
                  <a:close/>
                </a:path>
              </a:pathLst>
            </a:custGeom>
            <a:blipFill dpi="0" rotWithShape="1">
              <a:blip r:embed="rId2">
                <a:alphaModFix amt="70000"/>
              </a:blip>
              <a:srcRect/>
              <a:stretch>
                <a:fillRect l="-161907" r="-1500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平行四边形 7"/>
            <p:cNvSpPr/>
            <p:nvPr userDrawn="1"/>
          </p:nvSpPr>
          <p:spPr>
            <a:xfrm>
              <a:off x="6248008" y="-1"/>
              <a:ext cx="1633775" cy="3439954"/>
            </a:xfrm>
            <a:prstGeom prst="parallelogram">
              <a:avLst>
                <a:gd name="adj" fmla="val 74444"/>
              </a:avLst>
            </a:prstGeom>
            <a:solidFill>
              <a:schemeClr val="bg1"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平行四边形 8"/>
            <p:cNvSpPr/>
            <p:nvPr userDrawn="1"/>
          </p:nvSpPr>
          <p:spPr>
            <a:xfrm>
              <a:off x="2994636" y="3439953"/>
              <a:ext cx="4170727" cy="3420904"/>
            </a:xfrm>
            <a:prstGeom prst="parallelogram">
              <a:avLst>
                <a:gd name="adj" fmla="val 34946"/>
              </a:avLst>
            </a:prstGeom>
            <a:solidFill>
              <a:schemeClr val="accent5">
                <a:lumMod val="1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0" name="标题 19"/>
          <p:cNvSpPr>
            <a:spLocks noGrp="1"/>
          </p:cNvSpPr>
          <p:nvPr>
            <p:ph type="title"/>
          </p:nvPr>
        </p:nvSpPr>
        <p:spPr>
          <a:xfrm>
            <a:off x="5411346" y="1489066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1" name="文本占位符 20"/>
          <p:cNvSpPr>
            <a:spLocks noGrp="1"/>
          </p:cNvSpPr>
          <p:nvPr>
            <p:ph type="body" idx="1"/>
          </p:nvPr>
        </p:nvSpPr>
        <p:spPr>
          <a:xfrm>
            <a:off x="5411346" y="238441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 flipH="1">
            <a:off x="-1" y="-1"/>
            <a:ext cx="4804229" cy="6860858"/>
            <a:chOff x="2994636" y="-1"/>
            <a:chExt cx="9197364" cy="6860858"/>
          </a:xfrm>
        </p:grpSpPr>
        <p:sp>
          <p:nvSpPr>
            <p:cNvPr id="7" name="任意多边形: 形状 6"/>
            <p:cNvSpPr/>
            <p:nvPr userDrawn="1"/>
          </p:nvSpPr>
          <p:spPr>
            <a:xfrm>
              <a:off x="5080001" y="0"/>
              <a:ext cx="7111999" cy="6858000"/>
            </a:xfrm>
            <a:custGeom>
              <a:avLst/>
              <a:gdLst>
                <a:gd name="connsiteX0" fmla="*/ 2400300 w 7112000"/>
                <a:gd name="connsiteY0" fmla="*/ 0 h 6858000"/>
                <a:gd name="connsiteX1" fmla="*/ 7112000 w 7112000"/>
                <a:gd name="connsiteY1" fmla="*/ 0 h 6858000"/>
                <a:gd name="connsiteX2" fmla="*/ 7112000 w 7112000"/>
                <a:gd name="connsiteY2" fmla="*/ 2648857 h 6858000"/>
                <a:gd name="connsiteX3" fmla="*/ 5638800 w 7112000"/>
                <a:gd name="connsiteY3" fmla="*/ 6858000 h 6858000"/>
                <a:gd name="connsiteX4" fmla="*/ 0 w 711200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2000" h="6858000">
                  <a:moveTo>
                    <a:pt x="2400300" y="0"/>
                  </a:moveTo>
                  <a:lnTo>
                    <a:pt x="7112000" y="0"/>
                  </a:lnTo>
                  <a:lnTo>
                    <a:pt x="7112000" y="2648857"/>
                  </a:lnTo>
                  <a:lnTo>
                    <a:pt x="5638800" y="6858000"/>
                  </a:lnTo>
                  <a:lnTo>
                    <a:pt x="0" y="6858000"/>
                  </a:lnTo>
                  <a:close/>
                </a:path>
              </a:pathLst>
            </a:custGeom>
            <a:blipFill dpi="0" rotWithShape="1">
              <a:blip r:embed="rId2">
                <a:alphaModFix amt="70000"/>
              </a:blip>
              <a:srcRect/>
              <a:stretch>
                <a:fillRect l="-161907" r="-1500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平行四边形 7"/>
            <p:cNvSpPr/>
            <p:nvPr userDrawn="1"/>
          </p:nvSpPr>
          <p:spPr>
            <a:xfrm>
              <a:off x="6248008" y="-1"/>
              <a:ext cx="1633775" cy="3439954"/>
            </a:xfrm>
            <a:prstGeom prst="parallelogram">
              <a:avLst>
                <a:gd name="adj" fmla="val 74444"/>
              </a:avLst>
            </a:prstGeom>
            <a:solidFill>
              <a:schemeClr val="bg1"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平行四边形 8"/>
            <p:cNvSpPr/>
            <p:nvPr userDrawn="1"/>
          </p:nvSpPr>
          <p:spPr>
            <a:xfrm>
              <a:off x="2994636" y="3439953"/>
              <a:ext cx="4170727" cy="3420904"/>
            </a:xfrm>
            <a:prstGeom prst="parallelogram">
              <a:avLst>
                <a:gd name="adj" fmla="val 34946"/>
              </a:avLst>
            </a:prstGeom>
            <a:solidFill>
              <a:schemeClr val="accent5">
                <a:lumMod val="1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0" name="标题 19"/>
          <p:cNvSpPr>
            <a:spLocks noGrp="1"/>
          </p:cNvSpPr>
          <p:nvPr>
            <p:ph type="title"/>
          </p:nvPr>
        </p:nvSpPr>
        <p:spPr>
          <a:xfrm>
            <a:off x="5411346" y="1489066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1" name="文本占位符 20"/>
          <p:cNvSpPr>
            <a:spLocks noGrp="1"/>
          </p:cNvSpPr>
          <p:nvPr>
            <p:ph type="body" idx="1"/>
          </p:nvPr>
        </p:nvSpPr>
        <p:spPr>
          <a:xfrm>
            <a:off x="5411346" y="238441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 flipH="1">
            <a:off x="-1" y="-1"/>
            <a:ext cx="4804229" cy="6860858"/>
            <a:chOff x="2994636" y="-1"/>
            <a:chExt cx="9197364" cy="6860858"/>
          </a:xfrm>
        </p:grpSpPr>
        <p:sp>
          <p:nvSpPr>
            <p:cNvPr id="7" name="任意多边形: 形状 6"/>
            <p:cNvSpPr/>
            <p:nvPr userDrawn="1"/>
          </p:nvSpPr>
          <p:spPr>
            <a:xfrm>
              <a:off x="5080001" y="0"/>
              <a:ext cx="7111999" cy="6858000"/>
            </a:xfrm>
            <a:custGeom>
              <a:avLst/>
              <a:gdLst>
                <a:gd name="connsiteX0" fmla="*/ 2400300 w 7112000"/>
                <a:gd name="connsiteY0" fmla="*/ 0 h 6858000"/>
                <a:gd name="connsiteX1" fmla="*/ 7112000 w 7112000"/>
                <a:gd name="connsiteY1" fmla="*/ 0 h 6858000"/>
                <a:gd name="connsiteX2" fmla="*/ 7112000 w 7112000"/>
                <a:gd name="connsiteY2" fmla="*/ 2648857 h 6858000"/>
                <a:gd name="connsiteX3" fmla="*/ 5638800 w 7112000"/>
                <a:gd name="connsiteY3" fmla="*/ 6858000 h 6858000"/>
                <a:gd name="connsiteX4" fmla="*/ 0 w 711200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2000" h="6858000">
                  <a:moveTo>
                    <a:pt x="2400300" y="0"/>
                  </a:moveTo>
                  <a:lnTo>
                    <a:pt x="7112000" y="0"/>
                  </a:lnTo>
                  <a:lnTo>
                    <a:pt x="7112000" y="2648857"/>
                  </a:lnTo>
                  <a:lnTo>
                    <a:pt x="5638800" y="6858000"/>
                  </a:lnTo>
                  <a:lnTo>
                    <a:pt x="0" y="6858000"/>
                  </a:lnTo>
                  <a:close/>
                </a:path>
              </a:pathLst>
            </a:custGeom>
            <a:blipFill dpi="0" rotWithShape="1">
              <a:blip r:embed="rId2">
                <a:alphaModFix amt="70000"/>
              </a:blip>
              <a:srcRect/>
              <a:stretch>
                <a:fillRect l="-161907" r="-1500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平行四边形 7"/>
            <p:cNvSpPr/>
            <p:nvPr userDrawn="1"/>
          </p:nvSpPr>
          <p:spPr>
            <a:xfrm>
              <a:off x="6248008" y="-1"/>
              <a:ext cx="1633775" cy="3439954"/>
            </a:xfrm>
            <a:prstGeom prst="parallelogram">
              <a:avLst>
                <a:gd name="adj" fmla="val 74444"/>
              </a:avLst>
            </a:prstGeom>
            <a:solidFill>
              <a:schemeClr val="bg1"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平行四边形 8"/>
            <p:cNvSpPr/>
            <p:nvPr userDrawn="1"/>
          </p:nvSpPr>
          <p:spPr>
            <a:xfrm>
              <a:off x="2994636" y="3439953"/>
              <a:ext cx="4170727" cy="3420904"/>
            </a:xfrm>
            <a:prstGeom prst="parallelogram">
              <a:avLst>
                <a:gd name="adj" fmla="val 34946"/>
              </a:avLst>
            </a:prstGeom>
            <a:solidFill>
              <a:schemeClr val="accent5">
                <a:lumMod val="1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0" name="标题 19"/>
          <p:cNvSpPr>
            <a:spLocks noGrp="1"/>
          </p:cNvSpPr>
          <p:nvPr>
            <p:ph type="title"/>
          </p:nvPr>
        </p:nvSpPr>
        <p:spPr>
          <a:xfrm>
            <a:off x="5411346" y="1489066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1" name="文本占位符 20"/>
          <p:cNvSpPr>
            <a:spLocks noGrp="1"/>
          </p:cNvSpPr>
          <p:nvPr>
            <p:ph type="body" idx="1"/>
          </p:nvPr>
        </p:nvSpPr>
        <p:spPr>
          <a:xfrm>
            <a:off x="5411346" y="238441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 flipH="1">
            <a:off x="-1" y="-1"/>
            <a:ext cx="4804229" cy="6860858"/>
            <a:chOff x="2994636" y="-1"/>
            <a:chExt cx="9197364" cy="6860858"/>
          </a:xfrm>
        </p:grpSpPr>
        <p:sp>
          <p:nvSpPr>
            <p:cNvPr id="7" name="任意多边形: 形状 6"/>
            <p:cNvSpPr/>
            <p:nvPr userDrawn="1"/>
          </p:nvSpPr>
          <p:spPr>
            <a:xfrm>
              <a:off x="5080001" y="0"/>
              <a:ext cx="7111999" cy="6858000"/>
            </a:xfrm>
            <a:custGeom>
              <a:avLst/>
              <a:gdLst>
                <a:gd name="connsiteX0" fmla="*/ 2400300 w 7112000"/>
                <a:gd name="connsiteY0" fmla="*/ 0 h 6858000"/>
                <a:gd name="connsiteX1" fmla="*/ 7112000 w 7112000"/>
                <a:gd name="connsiteY1" fmla="*/ 0 h 6858000"/>
                <a:gd name="connsiteX2" fmla="*/ 7112000 w 7112000"/>
                <a:gd name="connsiteY2" fmla="*/ 2648857 h 6858000"/>
                <a:gd name="connsiteX3" fmla="*/ 5638800 w 7112000"/>
                <a:gd name="connsiteY3" fmla="*/ 6858000 h 6858000"/>
                <a:gd name="connsiteX4" fmla="*/ 0 w 711200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2000" h="6858000">
                  <a:moveTo>
                    <a:pt x="2400300" y="0"/>
                  </a:moveTo>
                  <a:lnTo>
                    <a:pt x="7112000" y="0"/>
                  </a:lnTo>
                  <a:lnTo>
                    <a:pt x="7112000" y="2648857"/>
                  </a:lnTo>
                  <a:lnTo>
                    <a:pt x="5638800" y="6858000"/>
                  </a:lnTo>
                  <a:lnTo>
                    <a:pt x="0" y="6858000"/>
                  </a:lnTo>
                  <a:close/>
                </a:path>
              </a:pathLst>
            </a:custGeom>
            <a:blipFill dpi="0" rotWithShape="1">
              <a:blip r:embed="rId2">
                <a:alphaModFix amt="70000"/>
              </a:blip>
              <a:srcRect/>
              <a:stretch>
                <a:fillRect l="-161907" r="-1500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平行四边形 7"/>
            <p:cNvSpPr/>
            <p:nvPr userDrawn="1"/>
          </p:nvSpPr>
          <p:spPr>
            <a:xfrm>
              <a:off x="6248008" y="-1"/>
              <a:ext cx="1633775" cy="3439954"/>
            </a:xfrm>
            <a:prstGeom prst="parallelogram">
              <a:avLst>
                <a:gd name="adj" fmla="val 74444"/>
              </a:avLst>
            </a:prstGeom>
            <a:solidFill>
              <a:schemeClr val="bg1"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平行四边形 8"/>
            <p:cNvSpPr/>
            <p:nvPr userDrawn="1"/>
          </p:nvSpPr>
          <p:spPr>
            <a:xfrm>
              <a:off x="2994636" y="3439953"/>
              <a:ext cx="4170727" cy="3420904"/>
            </a:xfrm>
            <a:prstGeom prst="parallelogram">
              <a:avLst>
                <a:gd name="adj" fmla="val 34946"/>
              </a:avLst>
            </a:prstGeom>
            <a:solidFill>
              <a:schemeClr val="accent5">
                <a:lumMod val="1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0" name="标题 19"/>
          <p:cNvSpPr>
            <a:spLocks noGrp="1"/>
          </p:cNvSpPr>
          <p:nvPr>
            <p:ph type="title"/>
          </p:nvPr>
        </p:nvSpPr>
        <p:spPr>
          <a:xfrm>
            <a:off x="5411346" y="1489066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1" name="文本占位符 20"/>
          <p:cNvSpPr>
            <a:spLocks noGrp="1"/>
          </p:cNvSpPr>
          <p:nvPr>
            <p:ph type="body" idx="1"/>
          </p:nvPr>
        </p:nvSpPr>
        <p:spPr>
          <a:xfrm>
            <a:off x="5411346" y="238441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3A3717A-5040-40EE-A337-D792C9EC5341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0" imgH="0" progId="TCLayout.ActiveDocument.1">
                  <p:embed/>
                </p:oleObj>
              </mc:Choice>
              <mc:Fallback>
                <p:oleObj name="think-cell Slide" r:id="rId2" imgW="0" imgH="0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90204" pitchFamily="34" charset="0"/>
              <a:ea typeface="微软雅黑" panose="020B0503020204020204" pitchFamily="34" charset="-122"/>
              <a:cs typeface="+mj-cs"/>
              <a:sym typeface="Arial" panose="020B060402020209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977898" y="3204553"/>
            <a:ext cx="7175501" cy="2237785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zh-CN" altLang="en-US" sz="4800" b="1" dirty="0">
                <a:latin typeface="等线 Light" panose="02010600030101010101" pitchFamily="2" charset="-122"/>
                <a:ea typeface="等线 Light" panose="02010600030101010101" pitchFamily="2" charset="-122"/>
                <a:cs typeface="Roboto" panose="02000000000000000000" pitchFamily="2" charset="0"/>
              </a:rPr>
              <a:t>“伴学智能体”设计</a:t>
            </a:r>
            <a:br>
              <a:rPr lang="en-US" altLang="zh-CN" sz="4800" dirty="0">
                <a:latin typeface="等线 Light" panose="02010600030101010101" pitchFamily="2" charset="-122"/>
                <a:ea typeface="等线 Light" panose="02010600030101010101" pitchFamily="2" charset="-122"/>
                <a:cs typeface="Roboto" panose="02000000000000000000" pitchFamily="2" charset="0"/>
              </a:rPr>
            </a:br>
            <a:br>
              <a:rPr lang="en-US" altLang="zh-CN" sz="4400" dirty="0">
                <a:latin typeface="等线 Light" panose="02010600030101010101" pitchFamily="2" charset="-122"/>
                <a:ea typeface="等线 Light" panose="02010600030101010101" pitchFamily="2" charset="-122"/>
                <a:cs typeface="Roboto" panose="02000000000000000000" pitchFamily="2" charset="0"/>
              </a:rPr>
            </a:br>
            <a:r>
              <a:rPr lang="en-US" altLang="zh-CN" sz="4400" dirty="0">
                <a:latin typeface="等线 Light" panose="02010600030101010101" pitchFamily="2" charset="-122"/>
                <a:ea typeface="等线 Light" panose="02010600030101010101" pitchFamily="2" charset="-122"/>
                <a:cs typeface="Roboto" panose="02000000000000000000" pitchFamily="2" charset="0"/>
              </a:rPr>
              <a:t>                           </a:t>
            </a: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——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第五周汇报</a:t>
            </a:r>
            <a:endParaRPr lang="zh-CN" altLang="en-US" sz="4400" b="1" dirty="0">
              <a:solidFill>
                <a:schemeClr val="tx1">
                  <a:lumMod val="95000"/>
                  <a:lumOff val="5000"/>
                </a:schemeClr>
              </a:solidFill>
              <a:latin typeface="等线 Light" panose="02010600030101010101" pitchFamily="2" charset="-122"/>
              <a:ea typeface="等线 Light" panose="02010600030101010101" pitchFamily="2" charset="-122"/>
              <a:cs typeface="Roboto" panose="02000000000000000000" pitchFamily="2" charset="0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155698" y="5700650"/>
            <a:ext cx="7175501" cy="558799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PPT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制作、汇报：朱海</a:t>
            </a:r>
          </a:p>
        </p:txBody>
      </p:sp>
      <p:sp>
        <p:nvSpPr>
          <p:cNvPr id="6" name="副标题 8"/>
          <p:cNvSpPr txBox="1"/>
          <p:nvPr/>
        </p:nvSpPr>
        <p:spPr>
          <a:xfrm>
            <a:off x="1155698" y="6056249"/>
            <a:ext cx="7175501" cy="558799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600" kern="1200">
                <a:solidFill>
                  <a:srgbClr val="3F82C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小组成员：朱海、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潘冠吾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、唐嘉阳、杨晓洁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099776" y="1577044"/>
            <a:ext cx="6307525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主要分为以下三个部分：</a:t>
            </a:r>
            <a:endParaRPr lang="en-US" altLang="zh-CN" sz="3200" dirty="0"/>
          </a:p>
          <a:p>
            <a:endParaRPr lang="en-US" altLang="zh-CN" sz="2800" dirty="0"/>
          </a:p>
          <a:p>
            <a:r>
              <a:rPr lang="zh-CN" altLang="en-US" sz="2400" dirty="0"/>
              <a:t>一、本周已完成工作</a:t>
            </a:r>
            <a:endParaRPr lang="en-US" altLang="zh-CN" sz="2400" dirty="0"/>
          </a:p>
          <a:p>
            <a:endParaRPr lang="en-US" altLang="zh-CN" sz="2400" dirty="0">
              <a:latin typeface="+mj-lt"/>
            </a:endParaRPr>
          </a:p>
          <a:p>
            <a:r>
              <a:rPr lang="zh-CN" altLang="en-US" sz="2400" dirty="0"/>
              <a:t>二、</a:t>
            </a:r>
            <a:r>
              <a:rPr lang="zh-CN" altLang="en-US" sz="2400" dirty="0">
                <a:sym typeface="+mn-ea"/>
              </a:rPr>
              <a:t>计划偏差分析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三、下周计划展望</a:t>
            </a:r>
          </a:p>
          <a:p>
            <a:endParaRPr lang="en-US" altLang="zh-CN" sz="2400" dirty="0"/>
          </a:p>
          <a:p>
            <a:r>
              <a:rPr lang="zh-CN" altLang="en-US" sz="2400" dirty="0"/>
              <a:t> </a:t>
            </a:r>
            <a:endParaRPr lang="zh-CN" altLang="en-US" sz="2800" dirty="0"/>
          </a:p>
        </p:txBody>
      </p:sp>
      <p:pic>
        <p:nvPicPr>
          <p:cNvPr id="5122" name="Picture 2" descr="有哪些好看的PPT目录？ - 知乎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147"/>
          <a:stretch>
            <a:fillRect/>
          </a:stretch>
        </p:blipFill>
        <p:spPr bwMode="auto">
          <a:xfrm>
            <a:off x="-1" y="1"/>
            <a:ext cx="5099775" cy="633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484988" y="2129518"/>
            <a:ext cx="5494162" cy="895350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sym typeface="+mn-ea"/>
              </a:rPr>
              <a:t>本周已完成工作</a:t>
            </a:r>
            <a:endParaRPr lang="en-US" altLang="zh-CN" sz="4400" dirty="0"/>
          </a:p>
        </p:txBody>
      </p:sp>
      <p:sp>
        <p:nvSpPr>
          <p:cNvPr id="9" name="文本框 8"/>
          <p:cNvSpPr txBox="1"/>
          <p:nvPr/>
        </p:nvSpPr>
        <p:spPr>
          <a:xfrm>
            <a:off x="4025988" y="2009247"/>
            <a:ext cx="1168104" cy="1015623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6"/>
                </a:solidFill>
                <a:latin typeface="Calibri" panose="020F0502020204030204" pitchFamily="34" charset="0"/>
                <a:ea typeface="宋体" pitchFamily="2" charset="-122"/>
                <a:cs typeface="Arial" panose="020B0604020202090204" pitchFamily="34" charset="0"/>
              </a:rPr>
              <a:t>/01</a:t>
            </a:r>
            <a:endParaRPr lang="zh-CN" altLang="en-US" spc="100" dirty="0">
              <a:solidFill>
                <a:schemeClr val="accent6"/>
              </a:solidFill>
              <a:latin typeface="Calibri" panose="020F050202020403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b="1" dirty="0" err="1">
                <a:sym typeface="+mn-ea"/>
              </a:rPr>
              <a:t>本周工作完成情况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513BA9-05E3-A62B-4762-E87B499E3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7215"/>
            <a:ext cx="12192000" cy="3883569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ym typeface="+mn-ea"/>
              </a:rPr>
              <a:t>智能体总体框架流程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1965" y="1252271"/>
            <a:ext cx="10702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9234170" y="1692275"/>
            <a:ext cx="27451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项目代码结构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233535" y="2507615"/>
            <a:ext cx="274510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>
                <a:effectLst/>
                <a:latin typeface="Consolas" panose="020B0609020204030204" pitchFamily="49" charset="0"/>
              </a:rPr>
              <a:t>这个项目不是单个大模型直接回答，而是一个状态机式智能体。前端把用户输入送到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API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，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API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再交给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workflow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调度不同节点。比如先识别主题，再做学前测评，再进入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tutor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讲解，再出题、评估、补救。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7687A05-B4D3-AAEA-5DE5-31131A73A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09" y="1012477"/>
            <a:ext cx="3741977" cy="526198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A88ED43-138D-D388-9B2D-802D62A1E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698" y="1618856"/>
            <a:ext cx="3388081" cy="2783067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3B88C64-3957-E2F8-E00E-CF4F9FECC155}"/>
              </a:ext>
            </a:extLst>
          </p:cNvPr>
          <p:cNvCxnSpPr>
            <a:cxnSpLocks/>
          </p:cNvCxnSpPr>
          <p:nvPr/>
        </p:nvCxnSpPr>
        <p:spPr>
          <a:xfrm flipV="1">
            <a:off x="3866255" y="3643468"/>
            <a:ext cx="1168443" cy="1962261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7F60B8FD-8CEE-9666-6B54-1311E1C76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54" y="1012477"/>
            <a:ext cx="8362559" cy="456759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2C0F22-41C4-80B6-11F7-F994071BE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108" y="5659843"/>
            <a:ext cx="6800850" cy="514350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A0D2F72D-508E-4AE1-FD3B-AF6B100CBB77}"/>
              </a:ext>
            </a:extLst>
          </p:cNvPr>
          <p:cNvSpPr txBox="1">
            <a:spLocks/>
          </p:cNvSpPr>
          <p:nvPr/>
        </p:nvSpPr>
        <p:spPr>
          <a:xfrm>
            <a:off x="363227" y="229839"/>
            <a:ext cx="4282732" cy="7826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ym typeface="+mn-ea"/>
              </a:rPr>
              <a:t>Pdf</a:t>
            </a:r>
            <a:r>
              <a:rPr lang="zh-CN" altLang="en-US" sz="3200" b="1" dirty="0">
                <a:sym typeface="+mn-ea"/>
              </a:rPr>
              <a:t>解析过程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EAD433-B3A7-03FA-4C2E-069182E71D0D}"/>
              </a:ext>
            </a:extLst>
          </p:cNvPr>
          <p:cNvSpPr txBox="1"/>
          <p:nvPr/>
        </p:nvSpPr>
        <p:spPr>
          <a:xfrm>
            <a:off x="8881730" y="2072817"/>
            <a:ext cx="28140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effectLst/>
                <a:latin typeface="Consolas" panose="020B0609020204030204" pitchFamily="49" charset="0"/>
              </a:rPr>
              <a:t>先把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PDF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解析成文本，再切成多个知识块，写入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Chroma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；同时基于这些块重建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BM25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；最后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tutor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节点在讲解前先检索，再把检索结果交给模型组织成教学回答。</a:t>
            </a:r>
          </a:p>
        </p:txBody>
      </p:sp>
    </p:spTree>
    <p:extLst>
      <p:ext uri="{BB962C8B-B14F-4D97-AF65-F5344CB8AC3E}">
        <p14:creationId xmlns:p14="http://schemas.microsoft.com/office/powerpoint/2010/main" val="3754805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D610507-2078-13BA-D164-C0CEB5781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27" y="1080201"/>
            <a:ext cx="8324850" cy="2486025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05572565-3FA4-0766-9A53-E939561BC181}"/>
              </a:ext>
            </a:extLst>
          </p:cNvPr>
          <p:cNvSpPr txBox="1">
            <a:spLocks/>
          </p:cNvSpPr>
          <p:nvPr/>
        </p:nvSpPr>
        <p:spPr>
          <a:xfrm>
            <a:off x="363227" y="229839"/>
            <a:ext cx="4282732" cy="7826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/>
              <a:t>数据管理目录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6AD1E3-51CC-F94E-7761-1E17F57FF099}"/>
              </a:ext>
            </a:extLst>
          </p:cNvPr>
          <p:cNvSpPr txBox="1"/>
          <p:nvPr/>
        </p:nvSpPr>
        <p:spPr>
          <a:xfrm>
            <a:off x="113413" y="3633950"/>
            <a:ext cx="92503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effectLst/>
                <a:latin typeface="Consolas" panose="020B0609020204030204" pitchFamily="49" charset="0"/>
              </a:rPr>
              <a:t>重点解释：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1. `knowledge/`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放的是原始资料，不参与检索计算本身。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2. `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chroma_db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/`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才是真正的向量检索库，里面保存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chunk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、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metadata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和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embedding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。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3. `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knowledge_index.json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`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不存正文，只记录文件指纹和块数，用来判断文件是否变化、是否需要重新解析。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4. `bm25_cache.json`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是基于现有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chunk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构建出的关键词索引缓存，用来加速重启。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5. `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retrieval_state.json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`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记录当前使用的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embedding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模型和切块配置，配置变了就触发安全重建。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6. `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tutor_memory.db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`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存的不是知识块，而是聊天线程、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checkpoint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和恢复状态。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91F347-23B8-E829-052C-8026A25CE9B3}"/>
              </a:ext>
            </a:extLst>
          </p:cNvPr>
          <p:cNvSpPr txBox="1"/>
          <p:nvPr/>
        </p:nvSpPr>
        <p:spPr>
          <a:xfrm>
            <a:off x="8988057" y="87830"/>
            <a:ext cx="309053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effectLst/>
                <a:latin typeface="+mn-ea"/>
              </a:rPr>
              <a:t>体现了我们把“知识内容”和“会话状态”分开管理。</a:t>
            </a:r>
            <a:r>
              <a:rPr lang="en-US" altLang="zh-CN" b="0" dirty="0">
                <a:effectLst/>
                <a:latin typeface="+mn-ea"/>
              </a:rPr>
              <a:t>`knowledge/`</a:t>
            </a:r>
            <a:r>
              <a:rPr lang="zh-CN" altLang="en-US" b="0" dirty="0">
                <a:effectLst/>
                <a:latin typeface="+mn-ea"/>
              </a:rPr>
              <a:t> 只放原始文件；</a:t>
            </a:r>
            <a:r>
              <a:rPr lang="en-US" altLang="zh-CN" b="0" dirty="0">
                <a:effectLst/>
                <a:latin typeface="+mn-ea"/>
              </a:rPr>
              <a:t>`</a:t>
            </a:r>
            <a:r>
              <a:rPr lang="en-US" altLang="zh-CN" b="0" dirty="0" err="1">
                <a:effectLst/>
                <a:latin typeface="+mn-ea"/>
              </a:rPr>
              <a:t>chroma_db</a:t>
            </a:r>
            <a:r>
              <a:rPr lang="en-US" altLang="zh-CN" b="0" dirty="0">
                <a:effectLst/>
                <a:latin typeface="+mn-ea"/>
              </a:rPr>
              <a:t>/`</a:t>
            </a:r>
            <a:r>
              <a:rPr lang="zh-CN" altLang="en-US" b="0" dirty="0">
                <a:effectLst/>
                <a:latin typeface="+mn-ea"/>
              </a:rPr>
              <a:t> 负责向量检索；</a:t>
            </a:r>
            <a:r>
              <a:rPr lang="en-US" altLang="zh-CN" b="0" dirty="0">
                <a:effectLst/>
                <a:latin typeface="+mn-ea"/>
              </a:rPr>
              <a:t>`bm25_cache.json`</a:t>
            </a:r>
            <a:r>
              <a:rPr lang="zh-CN" altLang="en-US" b="0" dirty="0">
                <a:effectLst/>
                <a:latin typeface="+mn-ea"/>
              </a:rPr>
              <a:t> 负责关键词检索缓存；</a:t>
            </a:r>
            <a:r>
              <a:rPr lang="en-US" altLang="zh-CN" b="0" dirty="0">
                <a:effectLst/>
                <a:latin typeface="+mn-ea"/>
              </a:rPr>
              <a:t>`</a:t>
            </a:r>
            <a:r>
              <a:rPr lang="en-US" altLang="zh-CN" b="0" dirty="0" err="1">
                <a:effectLst/>
                <a:latin typeface="+mn-ea"/>
              </a:rPr>
              <a:t>knowledge_index.json</a:t>
            </a:r>
            <a:r>
              <a:rPr lang="en-US" altLang="zh-CN" b="0" dirty="0">
                <a:effectLst/>
                <a:latin typeface="+mn-ea"/>
              </a:rPr>
              <a:t>`</a:t>
            </a:r>
            <a:r>
              <a:rPr lang="zh-CN" altLang="en-US" b="0" dirty="0">
                <a:effectLst/>
                <a:latin typeface="+mn-ea"/>
              </a:rPr>
              <a:t> 和 </a:t>
            </a:r>
            <a:r>
              <a:rPr lang="en-US" altLang="zh-CN" b="0" dirty="0">
                <a:effectLst/>
                <a:latin typeface="+mn-ea"/>
              </a:rPr>
              <a:t>`</a:t>
            </a:r>
            <a:r>
              <a:rPr lang="en-US" altLang="zh-CN" b="0" dirty="0" err="1">
                <a:effectLst/>
                <a:latin typeface="+mn-ea"/>
              </a:rPr>
              <a:t>retrieval_state.json</a:t>
            </a:r>
            <a:r>
              <a:rPr lang="en-US" altLang="zh-CN" b="0" dirty="0">
                <a:effectLst/>
                <a:latin typeface="+mn-ea"/>
              </a:rPr>
              <a:t>`</a:t>
            </a:r>
            <a:r>
              <a:rPr lang="zh-CN" altLang="en-US" b="0" dirty="0">
                <a:effectLst/>
                <a:latin typeface="+mn-ea"/>
              </a:rPr>
              <a:t> 负责判断什么时候该重建；而 </a:t>
            </a:r>
            <a:r>
              <a:rPr lang="en-US" altLang="zh-CN" b="0" dirty="0">
                <a:effectLst/>
                <a:latin typeface="+mn-ea"/>
              </a:rPr>
              <a:t>`</a:t>
            </a:r>
            <a:r>
              <a:rPr lang="en-US" altLang="zh-CN" b="0" dirty="0" err="1">
                <a:effectLst/>
                <a:latin typeface="+mn-ea"/>
              </a:rPr>
              <a:t>tutor_memory.db</a:t>
            </a:r>
            <a:r>
              <a:rPr lang="en-US" altLang="zh-CN" b="0" dirty="0">
                <a:effectLst/>
                <a:latin typeface="+mn-ea"/>
              </a:rPr>
              <a:t>`</a:t>
            </a:r>
            <a:r>
              <a:rPr lang="zh-CN" altLang="en-US" b="0" dirty="0">
                <a:effectLst/>
                <a:latin typeface="+mn-ea"/>
              </a:rPr>
              <a:t> 单独存会话历史和恢复点。这样分层的好处是，知识库重建不会影响聊天状态，聊天恢复也不会污染知识检索。</a:t>
            </a:r>
          </a:p>
        </p:txBody>
      </p:sp>
    </p:spTree>
    <p:extLst>
      <p:ext uri="{BB962C8B-B14F-4D97-AF65-F5344CB8AC3E}">
        <p14:creationId xmlns:p14="http://schemas.microsoft.com/office/powerpoint/2010/main" val="3378780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64CD7-87DF-14F3-0367-36237AFF4187}"/>
              </a:ext>
            </a:extLst>
          </p:cNvPr>
          <p:cNvSpPr txBox="1">
            <a:spLocks/>
          </p:cNvSpPr>
          <p:nvPr/>
        </p:nvSpPr>
        <p:spPr>
          <a:xfrm>
            <a:off x="363226" y="229839"/>
            <a:ext cx="7370187" cy="7826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/>
              <a:t>混合检索：</a:t>
            </a:r>
            <a:r>
              <a:rPr lang="en-US" altLang="zh-CN" sz="3200" dirty="0"/>
              <a:t>BM25 </a:t>
            </a:r>
            <a:r>
              <a:rPr lang="zh-CN" altLang="en-US" sz="3200" dirty="0"/>
              <a:t>与 </a:t>
            </a:r>
            <a:r>
              <a:rPr lang="en-US" altLang="zh-CN" sz="3200" dirty="0"/>
              <a:t>Chroma </a:t>
            </a:r>
            <a:r>
              <a:rPr lang="zh-CN" altLang="en-US" sz="3200" dirty="0"/>
              <a:t>混合架构怎么用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3D7D69-34F9-A2A1-FB7C-BBFE4C3EF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150248"/>
            <a:ext cx="4127080" cy="371612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FE7337A-1B04-C92A-77B4-B58AEF60CD40}"/>
              </a:ext>
            </a:extLst>
          </p:cNvPr>
          <p:cNvSpPr txBox="1"/>
          <p:nvPr/>
        </p:nvSpPr>
        <p:spPr>
          <a:xfrm>
            <a:off x="5351721" y="101247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Chroma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解决的是“换种说法也能搜到”的问题。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BM25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解决的是“关键词、术语、文件名精确匹配”的问题。</a:t>
            </a:r>
          </a:p>
          <a:p>
            <a:r>
              <a:rPr lang="zh-CN" altLang="en-US" b="0" dirty="0">
                <a:effectLst/>
                <a:latin typeface="Consolas" panose="020B0609020204030204" pitchFamily="49" charset="0"/>
              </a:rPr>
              <a:t>两者不是二选一，而是针对同一批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chunk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建两套索引。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Chroma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更偏语义，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BM25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更偏词面，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RRF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负责把两边结果融合。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4BBABB-B993-FC97-9C2A-6E067F0128FC}"/>
              </a:ext>
            </a:extLst>
          </p:cNvPr>
          <p:cNvSpPr txBox="1"/>
          <p:nvPr/>
        </p:nvSpPr>
        <p:spPr>
          <a:xfrm>
            <a:off x="5351721" y="250567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effectLst/>
                <a:latin typeface="Consolas" panose="020B0609020204030204" pitchFamily="49" charset="0"/>
              </a:rPr>
              <a:t>把两者结合起来。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Chroma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擅长理解语义，适合处理“用户换种说法提问”；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BM25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擅长抓术语、标题和文件名，适合做精确匹配。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5A0FAED-79B8-CEA0-B7C4-B2CA7CC54919}"/>
              </a:ext>
            </a:extLst>
          </p:cNvPr>
          <p:cNvSpPr txBox="1"/>
          <p:nvPr/>
        </p:nvSpPr>
        <p:spPr>
          <a:xfrm>
            <a:off x="5298802" y="3789625"/>
            <a:ext cx="6417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0" i="0" dirty="0">
                <a:effectLst/>
                <a:latin typeface="+mn-ea"/>
              </a:rPr>
              <a:t>RRF: </a:t>
            </a:r>
            <a:r>
              <a:rPr lang="zh-CN" altLang="en-US" b="0" i="0" dirty="0">
                <a:effectLst/>
                <a:latin typeface="+mn-ea"/>
              </a:rPr>
              <a:t>一个 </a:t>
            </a:r>
            <a:r>
              <a:rPr lang="en-US" altLang="zh-CN" b="0" i="0" dirty="0">
                <a:effectLst/>
                <a:latin typeface="+mn-ea"/>
              </a:rPr>
              <a:t>chunk </a:t>
            </a:r>
            <a:r>
              <a:rPr lang="zh-CN" altLang="en-US" b="0" i="0" dirty="0">
                <a:effectLst/>
                <a:latin typeface="+mn-ea"/>
              </a:rPr>
              <a:t>如果在多路检索里都排得靠前，那它更可信</a:t>
            </a:r>
            <a:endParaRPr lang="zh-CN" altLang="en-US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93ECA5-DE12-EBF0-0C39-CCE8ADAF7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87" y="5098152"/>
            <a:ext cx="1163002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78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894917-EB2F-75EE-2843-E25C85975CF2}"/>
              </a:ext>
            </a:extLst>
          </p:cNvPr>
          <p:cNvSpPr txBox="1">
            <a:spLocks/>
          </p:cNvSpPr>
          <p:nvPr/>
        </p:nvSpPr>
        <p:spPr>
          <a:xfrm>
            <a:off x="363226" y="229839"/>
            <a:ext cx="7370187" cy="7826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/>
              <a:t>使用方式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F71663-D243-3DE1-DD51-945AA79C13DE}"/>
              </a:ext>
            </a:extLst>
          </p:cNvPr>
          <p:cNvSpPr txBox="1"/>
          <p:nvPr/>
        </p:nvSpPr>
        <p:spPr>
          <a:xfrm>
            <a:off x="453655" y="1491964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-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入库阶段：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1.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扫描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`data/knowledge/`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2.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判断文件指纹是否变化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3. PDF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优先走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MinerU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，失败则回退本地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PyMuPDF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4.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生成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chunk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，写入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Chroma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5.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再从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Chroma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重建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BM25</a:t>
            </a:r>
          </a:p>
          <a:p>
            <a:br>
              <a:rPr lang="en-US" altLang="zh-CN" b="0" dirty="0"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effectLst/>
                <a:latin typeface="Consolas" panose="020B0609020204030204" pitchFamily="49" charset="0"/>
              </a:rPr>
              <a:t>-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查询阶段：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1. `tutor`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节点收到学习主题或问题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2.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走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`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query_with_sources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()`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3.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取回混合检索结果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4.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将结果拼成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context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5.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大模型基于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context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生成讲解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093513-3602-2543-BEEC-2C5533F0E027}"/>
              </a:ext>
            </a:extLst>
          </p:cNvPr>
          <p:cNvSpPr txBox="1"/>
          <p:nvPr/>
        </p:nvSpPr>
        <p:spPr>
          <a:xfrm>
            <a:off x="7733413" y="2348599"/>
            <a:ext cx="30621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effectLst/>
                <a:latin typeface="Consolas" panose="020B0609020204030204" pitchFamily="49" charset="0"/>
              </a:rPr>
              <a:t>分成两个阶段：第一个是入库，把资料变成可检索的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chunk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；第二个是查询，把用户问题映射到最相关的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chunk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，再让模型基于这些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chunk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生成答案。也就是说，大模型不是裸答，而是先查再答。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2C92D5F-F628-7764-4AD3-2552CAB0FB13}"/>
              </a:ext>
            </a:extLst>
          </p:cNvPr>
          <p:cNvCxnSpPr>
            <a:cxnSpLocks/>
          </p:cNvCxnSpPr>
          <p:nvPr/>
        </p:nvCxnSpPr>
        <p:spPr>
          <a:xfrm>
            <a:off x="5248487" y="3506801"/>
            <a:ext cx="1988741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509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智能体主界面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0A9A5F-D070-2AEA-4ACC-B52BEE47D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638" y="1012477"/>
            <a:ext cx="9238258" cy="5246556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学前测评与用户画像初步优化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86C965-AD9E-929A-64B3-AE931E4D4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96" y="1440967"/>
            <a:ext cx="5661219" cy="42935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7D14CE4-013A-CCFD-2C16-BB4F930DC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845" y="621158"/>
            <a:ext cx="2246660" cy="543546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智能体流程不断打印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7E9C53-DAF3-E053-97AA-F468E23C7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851" y="1012477"/>
            <a:ext cx="4383095" cy="517065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542148" cy="782638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会话时候参考文献引用问题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B9720CD-9F35-C950-18D1-C78763773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27" y="1103615"/>
            <a:ext cx="4036759" cy="49180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94170E4-9E24-D9D8-29EF-DC5E261BA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885" y="1012475"/>
            <a:ext cx="3449521" cy="510031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A9F35E4-6B3F-E192-EA7C-2DEE3BBE0C1C}"/>
              </a:ext>
            </a:extLst>
          </p:cNvPr>
          <p:cNvSpPr txBox="1"/>
          <p:nvPr/>
        </p:nvSpPr>
        <p:spPr>
          <a:xfrm>
            <a:off x="8229306" y="778524"/>
            <a:ext cx="3599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>
                <a:effectLst/>
                <a:latin typeface="Consolas" panose="020B0609020204030204" pitchFamily="49" charset="0"/>
              </a:rPr>
              <a:t>引用展示过于生硬</a:t>
            </a:r>
          </a:p>
          <a:p>
            <a:r>
              <a:rPr lang="zh-CN" altLang="en-US" b="0" dirty="0"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-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表现：只要检索到东西就直接挂参考来源</a:t>
            </a:r>
          </a:p>
          <a:p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1EEBB0C-D094-88D5-F423-3E70BE303E20}"/>
              </a:ext>
            </a:extLst>
          </p:cNvPr>
          <p:cNvSpPr txBox="1"/>
          <p:nvPr/>
        </p:nvSpPr>
        <p:spPr>
          <a:xfrm>
            <a:off x="8456508" y="3653773"/>
            <a:ext cx="31450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>
                <a:effectLst/>
                <a:latin typeface="Consolas" panose="020B0609020204030204" pitchFamily="49" charset="0"/>
              </a:rPr>
              <a:t>中文文件名查询不稳定</a:t>
            </a:r>
          </a:p>
          <a:p>
            <a:r>
              <a:rPr lang="zh-CN" altLang="en-US" b="0" dirty="0">
                <a:effectLst/>
                <a:latin typeface="Consolas" panose="020B0609020204030204" pitchFamily="49" charset="0"/>
              </a:rPr>
              <a:t>解决：更换多语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embedding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，并增加文件名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/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标题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boost</a:t>
            </a:r>
            <a:br>
              <a:rPr lang="en-US" altLang="zh-CN" b="0" dirty="0">
                <a:effectLst/>
                <a:latin typeface="Consolas" panose="020B0609020204030204" pitchFamily="49" charset="0"/>
              </a:rPr>
            </a:b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effectLst/>
                <a:latin typeface="Consolas" panose="020B0609020204030204" pitchFamily="49" charset="0"/>
              </a:rPr>
              <a:t>解决：当前默认本地模型是多语模型，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sentence-transformers/paraphrase-multilingual-MiniLM-L12-v2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025988" y="2009247"/>
            <a:ext cx="1168104" cy="1015623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6"/>
                </a:solidFill>
                <a:latin typeface="Calibri" panose="020F0502020204030204" pitchFamily="34" charset="0"/>
                <a:ea typeface="宋体" pitchFamily="2" charset="-122"/>
                <a:cs typeface="Arial" panose="020B0604020202090204" pitchFamily="34" charset="0"/>
              </a:rPr>
              <a:t>/02</a:t>
            </a:r>
            <a:endParaRPr lang="zh-CN" altLang="en-US" spc="100" dirty="0">
              <a:solidFill>
                <a:schemeClr val="accent6"/>
              </a:solidFill>
              <a:latin typeface="Calibri" panose="020F050202020403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5313158" y="2350447"/>
            <a:ext cx="4442135" cy="895350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sym typeface="+mn-ea"/>
              </a:rPr>
              <a:t>计划偏差分析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D3B6CB7-DB31-E54A-DFCB-1CBDACC9CFB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46"/>
          <a:stretch>
            <a:fillRect/>
          </a:stretch>
        </p:blipFill>
        <p:spPr>
          <a:xfrm>
            <a:off x="2255178" y="1208972"/>
            <a:ext cx="7504896" cy="347178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甘特图计划对比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628025" y="5250188"/>
            <a:ext cx="9412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按照计划进行中，详尽计划打好了基础，初步进入真正的开发阶段</a:t>
            </a:r>
          </a:p>
        </p:txBody>
      </p:sp>
      <p:sp>
        <p:nvSpPr>
          <p:cNvPr id="6" name="矩形 5"/>
          <p:cNvSpPr/>
          <p:nvPr/>
        </p:nvSpPr>
        <p:spPr>
          <a:xfrm>
            <a:off x="6716166" y="1521955"/>
            <a:ext cx="819964" cy="2400688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687191" y="2117152"/>
            <a:ext cx="7341159" cy="889937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ym typeface="+mn-ea"/>
              </a:rPr>
              <a:t>下周计划</a:t>
            </a:r>
            <a:endParaRPr lang="en-US" altLang="zh-CN" sz="3600" dirty="0"/>
          </a:p>
        </p:txBody>
      </p:sp>
      <p:sp>
        <p:nvSpPr>
          <p:cNvPr id="9" name="文本框 8"/>
          <p:cNvSpPr txBox="1"/>
          <p:nvPr/>
        </p:nvSpPr>
        <p:spPr>
          <a:xfrm>
            <a:off x="3424570" y="2057016"/>
            <a:ext cx="1168104" cy="1015623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6"/>
                </a:solidFill>
                <a:latin typeface="Calibri" panose="020F0502020204030204" pitchFamily="34" charset="0"/>
                <a:ea typeface="宋体" pitchFamily="2" charset="-122"/>
                <a:cs typeface="Arial" panose="020B0604020202090204" pitchFamily="34" charset="0"/>
              </a:rPr>
              <a:t>/03</a:t>
            </a:r>
            <a:endParaRPr lang="zh-CN" altLang="en-US" spc="100" dirty="0">
              <a:solidFill>
                <a:schemeClr val="accent6"/>
              </a:solidFill>
              <a:latin typeface="Calibri" panose="020F050202020403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下周计划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30780E-E35E-CEE9-ECDD-0FA526710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4864"/>
            <a:ext cx="12192000" cy="268827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font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175</TotalTime>
  <Words>811</Words>
  <Application>Microsoft Office PowerPoint</Application>
  <PresentationFormat>宽屏</PresentationFormat>
  <Paragraphs>66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等线</vt:lpstr>
      <vt:lpstr>等线 Light</vt:lpstr>
      <vt:lpstr>Arial</vt:lpstr>
      <vt:lpstr>Calibri</vt:lpstr>
      <vt:lpstr>Calibri Light</vt:lpstr>
      <vt:lpstr>Consolas</vt:lpstr>
      <vt:lpstr>回顾</vt:lpstr>
      <vt:lpstr>think-cell Slide</vt:lpstr>
      <vt:lpstr>“伴学智能体”设计                             ——第五周汇报</vt:lpstr>
      <vt:lpstr>PowerPoint 演示文稿</vt:lpstr>
      <vt:lpstr>本周已完成工作</vt:lpstr>
      <vt:lpstr>本周工作完成情况</vt:lpstr>
      <vt:lpstr>智能体总体框架流程</vt:lpstr>
      <vt:lpstr>PowerPoint 演示文稿</vt:lpstr>
      <vt:lpstr>PowerPoint 演示文稿</vt:lpstr>
      <vt:lpstr>PowerPoint 演示文稿</vt:lpstr>
      <vt:lpstr>PowerPoint 演示文稿</vt:lpstr>
      <vt:lpstr>智能体主界面</vt:lpstr>
      <vt:lpstr>学前测评与用户画像初步优化</vt:lpstr>
      <vt:lpstr>智能体流程不断打印</vt:lpstr>
      <vt:lpstr>会话时候参考文献引用问题</vt:lpstr>
      <vt:lpstr>计划偏差分析 </vt:lpstr>
      <vt:lpstr>甘特图计划对比</vt:lpstr>
      <vt:lpstr>下周计划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冠吾 潘</dc:creator>
  <cp:lastModifiedBy>海 朱</cp:lastModifiedBy>
  <cp:revision>86</cp:revision>
  <dcterms:created xsi:type="dcterms:W3CDTF">2026-03-24T07:00:08Z</dcterms:created>
  <dcterms:modified xsi:type="dcterms:W3CDTF">2026-04-01T05:47:48Z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44773EFF14C84F6678F0C16950CFDA44_43</vt:lpwstr>
  </property>
  <property fmtid="{D5CDD505-2E9C-101B-9397-08002B2CF9AE}" pid="3" name="KSOProductBuildVer">
    <vt:lpwstr>2052-6.7.1.8828</vt:lpwstr>
  </property>
</Properties>
</file>